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8" r:id="rId3"/>
    <p:sldId id="257" r:id="rId4"/>
    <p:sldId id="259" r:id="rId5"/>
    <p:sldId id="265" r:id="rId6"/>
    <p:sldId id="260" r:id="rId7"/>
    <p:sldId id="267" r:id="rId8"/>
    <p:sldId id="273" r:id="rId9"/>
    <p:sldId id="274" r:id="rId10"/>
    <p:sldId id="275" r:id="rId11"/>
    <p:sldId id="261" r:id="rId12"/>
    <p:sldId id="268" r:id="rId13"/>
    <p:sldId id="264" r:id="rId14"/>
    <p:sldId id="269" r:id="rId15"/>
    <p:sldId id="276" r:id="rId16"/>
    <p:sldId id="277" r:id="rId17"/>
    <p:sldId id="263" r:id="rId18"/>
    <p:sldId id="270" r:id="rId19"/>
    <p:sldId id="278" r:id="rId20"/>
    <p:sldId id="279" r:id="rId21"/>
    <p:sldId id="280" r:id="rId22"/>
    <p:sldId id="271" r:id="rId23"/>
    <p:sldId id="28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4"/>
    <p:restoredTop sz="94710"/>
  </p:normalViewPr>
  <p:slideViewPr>
    <p:cSldViewPr snapToGrid="0">
      <p:cViewPr>
        <p:scale>
          <a:sx n="164" d="100"/>
          <a:sy n="164" d="100"/>
        </p:scale>
        <p:origin x="-3376" y="-2224"/>
      </p:cViewPr>
      <p:guideLst/>
    </p:cSldViewPr>
  </p:slideViewPr>
  <p:notesTextViewPr>
    <p:cViewPr>
      <p:scale>
        <a:sx n="35" d="100"/>
        <a:sy n="3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3:19:34.6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4940 435 24575,'-29'-4'0,"-52"1"0,10-5 0,-16-4 0,-5 0-1508,4 0 1,-6-1 0,-4-1-1,-2-1 1508,19 2 0,-2-1 0,-2-1 0,-1 0 0,-1-1 0,1 0 0,-2 0 0,-1-1 0,0 0 0,0 0 0,1 0 0,3 2 0,-5 0 0,2 1 0,1 1 0,2 1 0,2 0 269,-11-1 1,1 0 0,4 2-1,5 3-269,0 2 0,4 3 0,5 1 0,-20 1 0,7 2 556,19-2 1,5 2-557,4 1 0,-1 4 0,-11 7 0,-4 6 0,-16 8 0,-4 4-164,28-7 1,-2 1 0,-1 0 163,-2 0 0,0 1 0,1-2 0,-21 8 0,6-3 1538,18-7 0,6 0-1538,-25 11 650,46-9-650,23-6 0,11 3 0,-4 7 603,-7 9-603,-9 14 0,-20 22 0,16-25 0,-3 2 0,-4 6 0,-2 1 0,-1-2 0,0-2 0,9-10 0,2-3 0,-7 14 0,19-20 0,15-12 0,7-2 0,13 0 0,25 16 0,30 23 0,-25-20 0,3 3 0,4 6 0,2 1 0,-4-3 0,2 0 0,-1-3 0,2-1 0,1-2 0,1 0 0,2-1 0,2-1 0,7 2 0,2 0 0,4-1 0,2-2 0,5 1 0,2-2 0,-20-10 0,2 1 0,2-2-238,4 1 1,2-1 0,0 0 237,5-1 0,1 1 0,1-2 0,-1 0 0,0 0 0,1-2 0,-2-2 0,0-2 0,0 0 0,-2-1 0,-1-1 0,-1 0 0,-4-2 0,-1-1 0,-1-1 0,24 1 0,-4-1 0,-15-4 0,-4-2 0,-8-3 0,-1-1 0,-1 0 0,0-2 0,10-3 0,3-2 0,16-5 0,4-3 0,-21 1 0,3-3 0,2-1-167,11-2 0,2-2 0,1-1 167,4-2 0,2 0 0,1 0 0,-24 4 0,1 1 0,0-1 0,-1 0 0,23-4 0,-1-1 0,-3 0 0,-10 2 0,-2-1 0,-4 0 0,20-6 0,-8 1 0,-23 5 0,-7 1 0,22-18 0,-20 6 0,-6-1 0,-3 1 1213,-4-2-1213,-3 0 0,-1-3 0,1-5 0,-1-6 0,-2-9 0,-3-18 0,-5-16 0,-15 38 0,-2-2 0,0-2 0,-1 1 0,1 5 0,-2 1 0,9-45 0,-8 5 0,-10 40 0,-4-2 0,-5-7 0,-5-2 0,-6-2 0,-5 1 0,-3 4 0,-3 4 0,-3 8 0,-2 3 0,-25-21 0,8 18 0,2 14 0,2 8 0,-2 4 0,0 1 0,-1 2 0,1 4 0,1 4 0,5 6 0,8 3 0,10 3 0,4 0 0,-2 1 0,-4 5 0,-15 6 0,-11 7 0,-8 4 0,-3 3 0,2 3 0,5 2 0,4 1 0,6-3 0,6-1 0,7-3 0,7-4 0,5-2 0,3-2 0,0 0 0,0-2 0,0 0 0,0-1 0,2 0 0,2 0 0,2 1 0,3 0 0,0-2 0,4-5 0,2-4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3:19:42.6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2330 59 24575,'-19'0'0,"-22"0"0,-27 0 0,-24 0 0,39 0 0,-2 0 0,-8 0 0,-2 0 0,-5 0 0,-1 0 0,0 0 0,0 0 0,-1 0 0,2 0 0,7 0 0,1 0 0,1 0 0,0 0 0,0 0 0,0 0 0,0 0 0,1 0 0,-2 0 0,0 0 0,-1 0 0,1 0 0,2 0 0,2 0 0,-41 2 0,25 8 0,24 10 0,16 9 0,13 9 0,5 14 0,-8 21 0,7-24 0,-2 4 0,-5 10 0,-3 2 0,-2 5 0,0 1 0,2-3 0,2-2-3392,3-6 0,4-2 3392,-5 35 0,13-20 0,7-17 0,3-12 0,0-12 0,7-9 0,17 8 6784,23 18-6784,-13-15 0,2 3 0,5 6 0,0 2 0,-1-1 0,0-1 0,-4-6 0,0-2 0,31 20 0,11-7 0,-31-25 0,4-1 0,11 4 0,3 1 0,12 2 0,5-1 0,-18-8 0,3-1 0,2-1-286,6 1 0,1-2 1,2 0 285,7-1 0,1-1 0,2-2 0,6-1 0,1-2 0,0-2-467,1-1 0,1-1 1,0-2 466,-20-2 0,2 0 0,-1-1 0,0 0 0,22 0 0,0-1 0,-2-1 0,-4 1 0,-1 0 0,0 0-305,-3 1 0,-1-1 0,-1-1 305,-1 0 0,-1 0 0,0-2 0,4-1 0,0-1 0,0-2 0,2-2 0,1-2 0,-1-2 0,-2-2 0,-1-1 0,-2-1 0,-3-3 0,-1-1 0,-1-1 0,-6 0 0,-1-2 0,-3 0 0,21-11 0,-6-2 0,-12 1 0,-7-2 378,-16 4 0,-6-1-378,23-33 1387,-20-3-1387,-14 0 1029,-5 0-1029,-9 4 0,-3 5 0,-5 4 0,-5 1 0,-4-1 0,-7-21 0,-16-17 0,3 39 0,-4 0 0,-4-2 0,-4 2 0,0 8 0,-2 3 0,-28-30 0,-4 19 0,-9 9 0,-14 4 0,40 24 0,-1 0 0,-1 0 0,0 1 0,-3 1 0,0-1 0,-6 0 0,-1 0 0,-4-2 0,-1 0 0,-2 0 0,0 1 0,3 1 0,2 1 0,8 3 0,3 2 0,-34-4 0,16 8 0,2 6 0,-12 3 0,-16 0 0,42 0 0,-1 0 0,-2 0 0,0 0 0,-45 0 0,9 0 0,6 0 0,10 0 0,5 2 0,9 4 0,8 3 0,5 2 0,6 0 0,1-2 0,0-1 0,-5-2 0,-3-1 0,1-3 0,-4-1 0,6-1 0,4 0 0,7 0 0,12 0 0,6 0 0,5 0 0,3 0 0,-1 0 0,-7 0 0,-13 0 0,-22 0 0,-23 0 0,-9 0 0,2 0 0,19 0 0,22 0 0,21 0 0,14 0 0,3 0 0,4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5T13:20:02.6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1912 0 24575,'11'0'0,"3"0"0,9 0 0,5 0 0,2 4 0,10 25 0,2 19 0,4 18 0,-1 3 0,-10-16 0,-7-10 0,-7-12 0,-4-7 0,-2-5 0,-4-3 0,-1-3 0,0-1 0,2 2 0,2 3 0,5 6 0,2 3 0,1 3 0,-2-2 0,-2-3 0,0-1 0,0-1 0,-1 4 0,-3-2 0,-3 5 0,-1 1 0,0 0 0,-2 9 0,-1 5 0,-3 10 0,-1 4 0,-2-1 0,-1-6 0,0-9 0,0-5 0,0-5 0,0 0 0,0 4 0,-2 3 0,-3 3 0,-4-2 0,-3-2 0,-1-1 0,-1-1 0,0 0 0,0-5 0,0-5 0,-1-7 0,2-6 0,1-3 0,1-3 0,2 0 0,1 1 0,-3 3 0,-1 5 0,-4 6 0,-5 4 0,-2 4 0,1-3 0,4-3 0,3-4 0,2-3 0,3-4 0,2-3 0,2-5 0,-1-3 0,1 0 0,0 0 0,0 0 0,1 0 0,-2-2 0,1 0 0,-1 0 0,-2 0 0,-3 1 0,-2 2 0,-1 2 0,-2 3 0,0-1 0,0 0 0,0-2 0,2-1 0,0 0 0,0 0 0,0 1 0,-2-1 0,0 2 0,0-2 0,0 1 0,0-1 0,2-2 0,2 0 0,3 0 0,2 0 0,-2 0 0,-1 1 0,-4 1 0,-2 2 0,-3 2 0,-3 0 0,3 1 0,0-2 0,3 0 0,3-2 0,1-2 0,2 1 0,0-2 0,0 2 0,0-1 0,-1 1 0,-1-1 0,-1 1 0,1-1 0,1-2 0,3 1 0,1-1 0,0 0 0,0-1 0,2 0 0,-2 0 0,-1 0 0,-4 0 0,-6 0 0,-8 0 0,-5 0 0,2 2 0,3 0 0,7 0 0,6 0 0,3-2 0,1 0 0,-11 0 0,-7 0 0,-4 0 0,3 2 0,10 0 0,6 1 0,3-2 0,-2-1 0,-2 0 0,-6 0 0,-6 0 0,1 0 0,2 0 0,4 0 0,2 0 0,0 0 0,0 0 0,0 0 0,0 0 0,0 0 0,-3 0 0,-1 0 0,-2-2 0,-2 0 0,-2-2 0,-2-3 0,-5-2 0,-6-3 0,-4-3 0,-2-1 0,5 1 0,10 0 0,7 3 0,6 0 0,-2 0 0,-3-2 0,-4-3 0,1-1 0,3 0 0,1 0 0,0 1 0,-2-4 0,1 0 0,2-3 0,1 1 0,0 0 0,0 0 0,-1 0 0,-3-6 0,2-1 0,0-2 0,0 0 0,6 3 0,-1-2 0,2-2 0,-1-5 0,1 0 0,4-1 0,1-4 0,5 0 0,0-3 0,-1 2 0,4 7 0,-1 1 0,3 2 0,0-2 0,0-4 0,0-4 0,0-2 0,0 0 0,0 4 0,0 2 0,0 1 0,3 1 0,5 1 0,5 1 0,5 1 0,2-2 0,0 0 0,0 1 0,-1 5 0,0 5 0,-1 2 0,2 0 0,7-3 0,6-1 0,6-4 0,7-3 0,0-1 0,4 1 0,-2 4 0,-4 8 0,-5 6 0,-3 2 0,2 2 0,1-2 0,7-1 0,0 3 0,1 1 0,-4 4 0,-7 4 0,-3 1 0,-4 3 0,1 0 0,3 0 0,3 0 0,3 0 0,3 0 0,1 0 0,-1 0 0,0 0 0,-1 1 0,-5 1 0,-5 1 0,-7-1 0,-7-2 0,-3 0 0,-3 0 0,3 2 0,9 1 0,11 1 0,6 1 0,2 0 0,-9-1 0,-8-1 0,-4-1 0,2-2 0,1 0 0,1 0 0,-1 0 0,-6 2 0,-3 1 0,-7 0 0,-1 1 0,-1-3 0,2-1 0,2 1 0,0-1 0,2 0 0,2 0 0,0 0 0,-3-2 0,-1 0 0,-3-1 0,1 1 0,-1 2 0,0 0 0,0 0 0,-4 0 0,1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9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6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8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3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7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72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50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7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16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0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1000"/>
                <a:alpha val="0"/>
              </a:schemeClr>
            </a:gs>
            <a:gs pos="53000">
              <a:srgbClr val="92D050">
                <a:lumMod val="58000"/>
                <a:lumOff val="42000"/>
                <a:alpha val="21000"/>
              </a:srgbClr>
            </a:gs>
            <a:gs pos="100000">
              <a:srgbClr val="92D050">
                <a:lumMod val="19000"/>
                <a:lumOff val="81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9A169-D70D-4649-979C-774C1207EEA8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A4AF9-D79A-DA42-A0A1-514F93AB8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6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ustomXml" Target="../ink/ink3.xml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erryweather.com/resources/osha-lightning-safety-standards-for-outdoor-workers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www.earthnetworks.com/the-ultimate-lightning-guide-for-airport-operations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8B7B-FA70-8944-0113-9F4A8D1D8D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AllClear</a:t>
            </a:r>
            <a:r>
              <a:rPr lang="en-US" b="1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sz="3200" dirty="0" err="1"/>
              <a:t>Présentation</a:t>
            </a:r>
            <a:r>
              <a:rPr lang="en-US" sz="3200" dirty="0"/>
              <a:t> – </a:t>
            </a:r>
            <a:r>
              <a:rPr lang="en-US" sz="3200" dirty="0" err="1"/>
              <a:t>Databattle</a:t>
            </a:r>
            <a:r>
              <a:rPr lang="en-US" sz="3200" dirty="0"/>
              <a:t> 2026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9820C-70D4-7383-40B4-6958D2367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408" y="5075629"/>
            <a:ext cx="6827521" cy="533399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Travail </a:t>
            </a:r>
            <a:r>
              <a:rPr lang="en-US" sz="1600" dirty="0" err="1"/>
              <a:t>réalisé</a:t>
            </a:r>
            <a:r>
              <a:rPr lang="en-US" sz="1600" dirty="0"/>
              <a:t> par:  Mehdi Khabouze, Hiba </a:t>
            </a:r>
            <a:r>
              <a:rPr lang="en-US" sz="1600" dirty="0" err="1"/>
              <a:t>Knizia</a:t>
            </a:r>
            <a:r>
              <a:rPr lang="en-US" sz="1600" dirty="0"/>
              <a:t>, Ilham </a:t>
            </a:r>
            <a:r>
              <a:rPr lang="en-US" sz="1600" dirty="0" err="1"/>
              <a:t>daoui</a:t>
            </a:r>
            <a:r>
              <a:rPr lang="en-US" sz="1600" dirty="0"/>
              <a:t>, et Kenza </a:t>
            </a:r>
            <a:r>
              <a:rPr lang="en-US" sz="1600" dirty="0" err="1"/>
              <a:t>Rzal</a:t>
            </a:r>
            <a:r>
              <a:rPr lang="en-US" sz="1600" dirty="0"/>
              <a:t>.</a:t>
            </a:r>
          </a:p>
          <a:p>
            <a:pPr algn="l"/>
            <a:endParaRPr lang="en-US" sz="16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14AD696-30E1-78A9-831B-289A7FB9B277}"/>
              </a:ext>
            </a:extLst>
          </p:cNvPr>
          <p:cNvSpPr txBox="1">
            <a:spLocks/>
          </p:cNvSpPr>
          <p:nvPr/>
        </p:nvSpPr>
        <p:spPr>
          <a:xfrm>
            <a:off x="5326966" y="3509963"/>
            <a:ext cx="1228580" cy="316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27/03/2026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0D1C4-C009-D614-858C-FA64DC2B2EAE}"/>
              </a:ext>
            </a:extLst>
          </p:cNvPr>
          <p:cNvSpPr txBox="1"/>
          <p:nvPr/>
        </p:nvSpPr>
        <p:spPr>
          <a:xfrm>
            <a:off x="7222001" y="925806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4BC64-8F61-88A8-2CA0-95E66D09742E}"/>
              </a:ext>
            </a:extLst>
          </p:cNvPr>
          <p:cNvSpPr txBox="1"/>
          <p:nvPr/>
        </p:nvSpPr>
        <p:spPr>
          <a:xfrm rot="19709071">
            <a:off x="4534380" y="925805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40C8A-5FB5-5364-F4EC-A356AA282BF5}"/>
              </a:ext>
            </a:extLst>
          </p:cNvPr>
          <p:cNvSpPr txBox="1"/>
          <p:nvPr/>
        </p:nvSpPr>
        <p:spPr>
          <a:xfrm>
            <a:off x="5803218" y="799197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pic>
        <p:nvPicPr>
          <p:cNvPr id="12" name="Picture 2" descr="🌐">
            <a:extLst>
              <a:ext uri="{FF2B5EF4-FFF2-40B4-BE49-F238E27FC236}">
                <a16:creationId xmlns:a16="http://schemas.microsoft.com/office/drawing/2014/main" id="{5B87F1ED-848C-7D51-159A-420FC2F35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792" y="6212015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96CF49-0A5A-4AB6-7179-DD9E15E7D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214012"/>
            <a:ext cx="1953039" cy="4377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6E5D3C-719A-4726-C30A-7049375642C0}"/>
              </a:ext>
            </a:extLst>
          </p:cNvPr>
          <p:cNvSpPr txBox="1"/>
          <p:nvPr/>
        </p:nvSpPr>
        <p:spPr>
          <a:xfrm>
            <a:off x="5769570" y="6230549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37136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A1CD-2115-8C22-E6F9-65F529D9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DAC4-C9BE-F044-49C9-F1EAFD296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85071" y="220272"/>
            <a:ext cx="9144000" cy="995363"/>
          </a:xfrm>
        </p:spPr>
        <p:txBody>
          <a:bodyPr>
            <a:normAutofit/>
          </a:bodyPr>
          <a:lstStyle/>
          <a:p>
            <a:r>
              <a:rPr lang="en-US" b="1" dirty="0" err="1"/>
              <a:t>Problèmatique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A5334-DC39-AF88-A3DC-77AA98CB8CFE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pic>
        <p:nvPicPr>
          <p:cNvPr id="1026" name="Picture 2" descr="🌐">
            <a:extLst>
              <a:ext uri="{FF2B5EF4-FFF2-40B4-BE49-F238E27FC236}">
                <a16:creationId xmlns:a16="http://schemas.microsoft.com/office/drawing/2014/main" id="{37D75C99-6571-CF9F-B6C4-B4BC6566E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Waiting on the quiet tarmac">
            <a:extLst>
              <a:ext uri="{FF2B5EF4-FFF2-40B4-BE49-F238E27FC236}">
                <a16:creationId xmlns:a16="http://schemas.microsoft.com/office/drawing/2014/main" id="{C51C3835-CC7B-6A99-6E91-C3D203CE9A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995362" cy="99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0" descr="Waiting on the quiet tarmac">
            <a:extLst>
              <a:ext uri="{FF2B5EF4-FFF2-40B4-BE49-F238E27FC236}">
                <a16:creationId xmlns:a16="http://schemas.microsoft.com/office/drawing/2014/main" id="{F369B9B4-2CAC-C4B5-0903-8DE62B67EA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94314" y="3276600"/>
            <a:ext cx="2754086" cy="275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1D4734-BF05-D627-1448-C1F508122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55" y="1556341"/>
            <a:ext cx="6005990" cy="40039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CB3BE5-4B65-BE29-ACD5-5886C96B2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B74E81-54E8-F175-40D5-D23D90EEBA96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F63A5530-23ED-98DA-BD69-A603AF650AFD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17ADE8-5F5B-BD04-9E97-95D3A5FA3636}"/>
              </a:ext>
            </a:extLst>
          </p:cNvPr>
          <p:cNvSpPr txBox="1"/>
          <p:nvPr/>
        </p:nvSpPr>
        <p:spPr>
          <a:xfrm>
            <a:off x="11644828" y="628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982DB-77AD-A19E-E3E1-3BE5CC6A5538}"/>
              </a:ext>
            </a:extLst>
          </p:cNvPr>
          <p:cNvSpPr txBox="1"/>
          <p:nvPr/>
        </p:nvSpPr>
        <p:spPr>
          <a:xfrm flipH="1">
            <a:off x="7043349" y="2298357"/>
            <a:ext cx="4959286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2400" dirty="0"/>
              <a:t>Comment </a:t>
            </a:r>
            <a:r>
              <a:rPr lang="en-US" sz="2400" dirty="0" err="1"/>
              <a:t>produire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temps </a:t>
            </a:r>
            <a:r>
              <a:rPr lang="en-US" sz="2400" dirty="0" err="1"/>
              <a:t>réel</a:t>
            </a:r>
            <a:r>
              <a:rPr lang="en-US" sz="2400" dirty="0"/>
              <a:t> </a:t>
            </a:r>
            <a:r>
              <a:rPr lang="en-US" sz="2400" dirty="0" err="1"/>
              <a:t>une</a:t>
            </a:r>
            <a:r>
              <a:rPr lang="en-US" sz="2400" dirty="0"/>
              <a:t> </a:t>
            </a:r>
            <a:r>
              <a:rPr lang="en-US" sz="2400" dirty="0" err="1"/>
              <a:t>probabilité</a:t>
            </a:r>
            <a:r>
              <a:rPr lang="en-US" sz="2400" dirty="0"/>
              <a:t> de fin </a:t>
            </a:r>
            <a:r>
              <a:rPr lang="en-US" sz="2400" dirty="0" err="1"/>
              <a:t>d'alerte</a:t>
            </a:r>
            <a:r>
              <a:rPr lang="en-US" sz="2400" dirty="0"/>
              <a:t>, éclair par éclair, tout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garantissant</a:t>
            </a:r>
            <a:r>
              <a:rPr lang="en-US" sz="2400" dirty="0"/>
              <a:t> un </a:t>
            </a:r>
            <a:r>
              <a:rPr lang="en-US" sz="2400" dirty="0" err="1"/>
              <a:t>risque</a:t>
            </a:r>
            <a:r>
              <a:rPr lang="en-US" sz="2400" dirty="0"/>
              <a:t> acceptable pour les agents au sol 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36073B-6742-C4FC-4A42-ED90A9FB212D}"/>
              </a:ext>
            </a:extLst>
          </p:cNvPr>
          <p:cNvSpPr txBox="1"/>
          <p:nvPr/>
        </p:nvSpPr>
        <p:spPr>
          <a:xfrm>
            <a:off x="1615286" y="5583626"/>
            <a:ext cx="4480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28 minutes. Le </a:t>
            </a:r>
            <a:r>
              <a:rPr lang="en-US" dirty="0" err="1"/>
              <a:t>ciel</a:t>
            </a:r>
            <a:r>
              <a:rPr lang="en-US" dirty="0"/>
              <a:t> est dégagé. La </a:t>
            </a:r>
            <a:r>
              <a:rPr lang="en-US" dirty="0" err="1"/>
              <a:t>règle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30.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839AFF-1B8D-2629-8A8A-39B086A1ADAE}"/>
              </a:ext>
            </a:extLst>
          </p:cNvPr>
          <p:cNvSpPr txBox="1"/>
          <p:nvPr/>
        </p:nvSpPr>
        <p:spPr>
          <a:xfrm>
            <a:off x="5165983" y="6446436"/>
            <a:ext cx="267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</a:t>
            </a:r>
            <a:r>
              <a:rPr lang="en-US" dirty="0" err="1"/>
              <a:t>générée</a:t>
            </a:r>
            <a:r>
              <a:rPr lang="en-US" dirty="0"/>
              <a:t> par gpt-4o</a:t>
            </a:r>
          </a:p>
        </p:txBody>
      </p:sp>
    </p:spTree>
    <p:extLst>
      <p:ext uri="{BB962C8B-B14F-4D97-AF65-F5344CB8AC3E}">
        <p14:creationId xmlns:p14="http://schemas.microsoft.com/office/powerpoint/2010/main" val="373315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43F4-373C-828A-B4AF-F4D49D34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281FD-C408-C2B3-D999-1B2D9B89E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14291" y="377605"/>
            <a:ext cx="9144000" cy="935575"/>
          </a:xfrm>
        </p:spPr>
        <p:txBody>
          <a:bodyPr>
            <a:normAutofit/>
          </a:bodyPr>
          <a:lstStyle/>
          <a:p>
            <a:r>
              <a:rPr lang="en-US" b="1" dirty="0"/>
              <a:t>Plan de la </a:t>
            </a:r>
            <a:r>
              <a:rPr lang="en-US" b="1" dirty="0" err="1"/>
              <a:t>présentation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9A70F-6909-142D-480C-0DA2F855E625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3E05FBBF-EBD5-9ACE-D6E0-294634A11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134" y="-1282579"/>
            <a:ext cx="4642338" cy="293663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Le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C5F58DD2-7BEF-5625-1570-4000E84E92DB}"/>
              </a:ext>
            </a:extLst>
          </p:cNvPr>
          <p:cNvSpPr/>
          <p:nvPr/>
        </p:nvSpPr>
        <p:spPr>
          <a:xfrm rot="14992246">
            <a:off x="6298863" y="-1329399"/>
            <a:ext cx="500372" cy="9032921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Donut 12">
            <a:extLst>
              <a:ext uri="{FF2B5EF4-FFF2-40B4-BE49-F238E27FC236}">
                <a16:creationId xmlns:a16="http://schemas.microsoft.com/office/drawing/2014/main" id="{714C8266-F8F1-F522-C5C8-EB1E9E0CA981}"/>
              </a:ext>
            </a:extLst>
          </p:cNvPr>
          <p:cNvSpPr/>
          <p:nvPr/>
        </p:nvSpPr>
        <p:spPr>
          <a:xfrm>
            <a:off x="2222361" y="4491102"/>
            <a:ext cx="392888" cy="427400"/>
          </a:xfrm>
          <a:prstGeom prst="donut">
            <a:avLst/>
          </a:prstGeom>
          <a:solidFill>
            <a:schemeClr val="bg1">
              <a:lumMod val="6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77F9690C-4309-591C-3BC6-81F44D1BB2C1}"/>
              </a:ext>
            </a:extLst>
          </p:cNvPr>
          <p:cNvSpPr/>
          <p:nvPr/>
        </p:nvSpPr>
        <p:spPr>
          <a:xfrm>
            <a:off x="8625122" y="214933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5" name="Donut 14">
            <a:extLst>
              <a:ext uri="{FF2B5EF4-FFF2-40B4-BE49-F238E27FC236}">
                <a16:creationId xmlns:a16="http://schemas.microsoft.com/office/drawing/2014/main" id="{050AD2CB-BB8E-78DE-9336-446C96F5D37C}"/>
              </a:ext>
            </a:extLst>
          </p:cNvPr>
          <p:cNvSpPr/>
          <p:nvPr/>
        </p:nvSpPr>
        <p:spPr>
          <a:xfrm>
            <a:off x="6549049" y="2902141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Donut 15">
            <a:extLst>
              <a:ext uri="{FF2B5EF4-FFF2-40B4-BE49-F238E27FC236}">
                <a16:creationId xmlns:a16="http://schemas.microsoft.com/office/drawing/2014/main" id="{07294792-AB1E-FB37-C0D9-7DC15411146B}"/>
              </a:ext>
            </a:extLst>
          </p:cNvPr>
          <p:cNvSpPr/>
          <p:nvPr/>
        </p:nvSpPr>
        <p:spPr>
          <a:xfrm>
            <a:off x="4424863" y="368215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7" name="Donut 16">
            <a:extLst>
              <a:ext uri="{FF2B5EF4-FFF2-40B4-BE49-F238E27FC236}">
                <a16:creationId xmlns:a16="http://schemas.microsoft.com/office/drawing/2014/main" id="{92A8A055-75AB-3636-6241-5B41F80E6703}"/>
              </a:ext>
            </a:extLst>
          </p:cNvPr>
          <p:cNvSpPr/>
          <p:nvPr/>
        </p:nvSpPr>
        <p:spPr>
          <a:xfrm>
            <a:off x="9973924" y="165405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45D9D214-3C55-C7A7-82EF-246D8D2E5CF4}"/>
              </a:ext>
            </a:extLst>
          </p:cNvPr>
          <p:cNvSpPr/>
          <p:nvPr/>
        </p:nvSpPr>
        <p:spPr>
          <a:xfrm>
            <a:off x="3278237" y="4104280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B90F96-7152-2590-0E8C-3734D59445E1}"/>
              </a:ext>
            </a:extLst>
          </p:cNvPr>
          <p:cNvSpPr txBox="1"/>
          <p:nvPr/>
        </p:nvSpPr>
        <p:spPr>
          <a:xfrm>
            <a:off x="1635127" y="5229784"/>
            <a:ext cx="15673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Problèmatique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CD166F-5A9F-08C3-5E8A-7A3D03453E8D}"/>
              </a:ext>
            </a:extLst>
          </p:cNvPr>
          <p:cNvSpPr txBox="1"/>
          <p:nvPr/>
        </p:nvSpPr>
        <p:spPr>
          <a:xfrm>
            <a:off x="2863764" y="4848235"/>
            <a:ext cx="267900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Analyse</a:t>
            </a:r>
            <a:r>
              <a:rPr lang="en-US" sz="1800" dirty="0"/>
              <a:t> des données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3BB6F8-C094-A60F-F3A2-4CC7EC457E27}"/>
              </a:ext>
            </a:extLst>
          </p:cNvPr>
          <p:cNvSpPr txBox="1"/>
          <p:nvPr/>
        </p:nvSpPr>
        <p:spPr>
          <a:xfrm>
            <a:off x="4150068" y="4478903"/>
            <a:ext cx="1945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sz="1800" dirty="0"/>
              <a:t>ipeline technique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1FEDE3-9A01-E6A8-9123-956CDB25CB59}"/>
              </a:ext>
            </a:extLst>
          </p:cNvPr>
          <p:cNvSpPr txBox="1"/>
          <p:nvPr/>
        </p:nvSpPr>
        <p:spPr>
          <a:xfrm>
            <a:off x="6054437" y="3617479"/>
            <a:ext cx="263962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Démonstration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direct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A9DAF-8284-7E90-AEE8-BFDD2F0B3C7D}"/>
              </a:ext>
            </a:extLst>
          </p:cNvPr>
          <p:cNvSpPr txBox="1"/>
          <p:nvPr/>
        </p:nvSpPr>
        <p:spPr>
          <a:xfrm>
            <a:off x="8363211" y="2972702"/>
            <a:ext cx="1030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Résultats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317D53-F64F-1B31-5793-774DDF920147}"/>
              </a:ext>
            </a:extLst>
          </p:cNvPr>
          <p:cNvSpPr txBox="1"/>
          <p:nvPr/>
        </p:nvSpPr>
        <p:spPr>
          <a:xfrm>
            <a:off x="9539820" y="2511656"/>
            <a:ext cx="1814861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RSE &amp; conclusion</a:t>
            </a:r>
          </a:p>
        </p:txBody>
      </p:sp>
      <p:sp>
        <p:nvSpPr>
          <p:cNvPr id="33" name="Extract 32">
            <a:extLst>
              <a:ext uri="{FF2B5EF4-FFF2-40B4-BE49-F238E27FC236}">
                <a16:creationId xmlns:a16="http://schemas.microsoft.com/office/drawing/2014/main" id="{D0449D54-695F-CEE3-DF09-A58B97CE15D3}"/>
              </a:ext>
            </a:extLst>
          </p:cNvPr>
          <p:cNvSpPr/>
          <p:nvPr/>
        </p:nvSpPr>
        <p:spPr>
          <a:xfrm>
            <a:off x="2310532" y="4976256"/>
            <a:ext cx="175153" cy="323795"/>
          </a:xfrm>
          <a:prstGeom prst="flowChartExtra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xtract 33">
            <a:extLst>
              <a:ext uri="{FF2B5EF4-FFF2-40B4-BE49-F238E27FC236}">
                <a16:creationId xmlns:a16="http://schemas.microsoft.com/office/drawing/2014/main" id="{8414084A-F28B-F40D-8562-58EEF3E6441A}"/>
              </a:ext>
            </a:extLst>
          </p:cNvPr>
          <p:cNvSpPr/>
          <p:nvPr/>
        </p:nvSpPr>
        <p:spPr>
          <a:xfrm>
            <a:off x="3397371" y="4600863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xtract 34">
            <a:extLst>
              <a:ext uri="{FF2B5EF4-FFF2-40B4-BE49-F238E27FC236}">
                <a16:creationId xmlns:a16="http://schemas.microsoft.com/office/drawing/2014/main" id="{BC66546A-61ED-9E0A-A722-2496B1A47A73}"/>
              </a:ext>
            </a:extLst>
          </p:cNvPr>
          <p:cNvSpPr/>
          <p:nvPr/>
        </p:nvSpPr>
        <p:spPr>
          <a:xfrm>
            <a:off x="4533730" y="4186152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xtract 35">
            <a:extLst>
              <a:ext uri="{FF2B5EF4-FFF2-40B4-BE49-F238E27FC236}">
                <a16:creationId xmlns:a16="http://schemas.microsoft.com/office/drawing/2014/main" id="{F1F12954-E939-E1C2-AB2D-04A51033B6ED}"/>
              </a:ext>
            </a:extLst>
          </p:cNvPr>
          <p:cNvSpPr/>
          <p:nvPr/>
        </p:nvSpPr>
        <p:spPr>
          <a:xfrm>
            <a:off x="6657916" y="3413238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xtract 36">
            <a:extLst>
              <a:ext uri="{FF2B5EF4-FFF2-40B4-BE49-F238E27FC236}">
                <a16:creationId xmlns:a16="http://schemas.microsoft.com/office/drawing/2014/main" id="{669FF211-1F25-30E0-F94D-F480D7E63765}"/>
              </a:ext>
            </a:extLst>
          </p:cNvPr>
          <p:cNvSpPr/>
          <p:nvPr/>
        </p:nvSpPr>
        <p:spPr>
          <a:xfrm>
            <a:off x="8733989" y="2670544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xtract 37">
            <a:extLst>
              <a:ext uri="{FF2B5EF4-FFF2-40B4-BE49-F238E27FC236}">
                <a16:creationId xmlns:a16="http://schemas.microsoft.com/office/drawing/2014/main" id="{0CBA6891-FD47-31D3-1D0C-9361528812D0}"/>
              </a:ext>
            </a:extLst>
          </p:cNvPr>
          <p:cNvSpPr/>
          <p:nvPr/>
        </p:nvSpPr>
        <p:spPr>
          <a:xfrm>
            <a:off x="10082791" y="2187861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F648B006-444F-6A17-75EA-50B1E8037A33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1B763-008E-202C-83E8-43ACF9834A60}"/>
              </a:ext>
            </a:extLst>
          </p:cNvPr>
          <p:cNvSpPr txBox="1"/>
          <p:nvPr/>
        </p:nvSpPr>
        <p:spPr>
          <a:xfrm>
            <a:off x="11644828" y="628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6" name="Picture 2" descr="🌐">
            <a:extLst>
              <a:ext uri="{FF2B5EF4-FFF2-40B4-BE49-F238E27FC236}">
                <a16:creationId xmlns:a16="http://schemas.microsoft.com/office/drawing/2014/main" id="{26F3B6FB-70E0-33EC-9C13-80C291578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0FBD63-C358-4DA5-6502-449BC4B8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47BFB-3BF2-63D0-C41D-2203F291FA72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831456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2E36-9155-B158-DD3F-38DB0514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93B8-0E8F-08B5-590A-B141F76F8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14291" y="377605"/>
            <a:ext cx="9144000" cy="935575"/>
          </a:xfrm>
        </p:spPr>
        <p:txBody>
          <a:bodyPr>
            <a:normAutofit/>
          </a:bodyPr>
          <a:lstStyle/>
          <a:p>
            <a:r>
              <a:rPr lang="en-US" b="1" dirty="0"/>
              <a:t>Plan de la </a:t>
            </a:r>
            <a:r>
              <a:rPr lang="en-US" b="1" dirty="0" err="1"/>
              <a:t>présentation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3B24E-8D80-20DC-3DDF-E041CDDD5854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9903252D-40F7-0A41-84EB-9BDD14713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134" y="-1282579"/>
            <a:ext cx="4642338" cy="293663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Le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873FC622-FB87-D7CC-DC6E-4D8BA0E6736B}"/>
              </a:ext>
            </a:extLst>
          </p:cNvPr>
          <p:cNvSpPr/>
          <p:nvPr/>
        </p:nvSpPr>
        <p:spPr>
          <a:xfrm rot="14992246">
            <a:off x="6298863" y="-1329399"/>
            <a:ext cx="500372" cy="9032921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Donut 12">
            <a:extLst>
              <a:ext uri="{FF2B5EF4-FFF2-40B4-BE49-F238E27FC236}">
                <a16:creationId xmlns:a16="http://schemas.microsoft.com/office/drawing/2014/main" id="{FE61D850-8D47-7B91-0707-0CEEA3827D6A}"/>
              </a:ext>
            </a:extLst>
          </p:cNvPr>
          <p:cNvSpPr/>
          <p:nvPr/>
        </p:nvSpPr>
        <p:spPr>
          <a:xfrm>
            <a:off x="2222361" y="449110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F1C7E6C0-104D-861E-FD86-D2FED6AC72D8}"/>
              </a:ext>
            </a:extLst>
          </p:cNvPr>
          <p:cNvSpPr/>
          <p:nvPr/>
        </p:nvSpPr>
        <p:spPr>
          <a:xfrm>
            <a:off x="8625122" y="214933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5" name="Donut 14">
            <a:extLst>
              <a:ext uri="{FF2B5EF4-FFF2-40B4-BE49-F238E27FC236}">
                <a16:creationId xmlns:a16="http://schemas.microsoft.com/office/drawing/2014/main" id="{B2376917-D51F-482C-2A0E-71A6F052083E}"/>
              </a:ext>
            </a:extLst>
          </p:cNvPr>
          <p:cNvSpPr/>
          <p:nvPr/>
        </p:nvSpPr>
        <p:spPr>
          <a:xfrm>
            <a:off x="6549049" y="2902141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Donut 15">
            <a:extLst>
              <a:ext uri="{FF2B5EF4-FFF2-40B4-BE49-F238E27FC236}">
                <a16:creationId xmlns:a16="http://schemas.microsoft.com/office/drawing/2014/main" id="{9FE399BB-B76D-295A-38C8-7E77DF3ACC40}"/>
              </a:ext>
            </a:extLst>
          </p:cNvPr>
          <p:cNvSpPr/>
          <p:nvPr/>
        </p:nvSpPr>
        <p:spPr>
          <a:xfrm>
            <a:off x="4424863" y="368215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7" name="Donut 16">
            <a:extLst>
              <a:ext uri="{FF2B5EF4-FFF2-40B4-BE49-F238E27FC236}">
                <a16:creationId xmlns:a16="http://schemas.microsoft.com/office/drawing/2014/main" id="{A5186BAD-A54B-4A3E-06F0-C916D832C16C}"/>
              </a:ext>
            </a:extLst>
          </p:cNvPr>
          <p:cNvSpPr/>
          <p:nvPr/>
        </p:nvSpPr>
        <p:spPr>
          <a:xfrm>
            <a:off x="9973924" y="165405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D725F720-9F16-D4DC-29E9-F23B2102C997}"/>
              </a:ext>
            </a:extLst>
          </p:cNvPr>
          <p:cNvSpPr/>
          <p:nvPr/>
        </p:nvSpPr>
        <p:spPr>
          <a:xfrm>
            <a:off x="3278237" y="4104280"/>
            <a:ext cx="392888" cy="427400"/>
          </a:xfrm>
          <a:prstGeom prst="donut">
            <a:avLst/>
          </a:prstGeom>
          <a:solidFill>
            <a:schemeClr val="bg1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65DFE9-3125-1ECB-E670-B00A7AA473EC}"/>
              </a:ext>
            </a:extLst>
          </p:cNvPr>
          <p:cNvSpPr txBox="1"/>
          <p:nvPr/>
        </p:nvSpPr>
        <p:spPr>
          <a:xfrm>
            <a:off x="1635127" y="5229784"/>
            <a:ext cx="1567356" cy="46487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Problèmatique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D9CEBD-93FE-2B6C-AEB5-BC3AEECDC2D5}"/>
              </a:ext>
            </a:extLst>
          </p:cNvPr>
          <p:cNvSpPr txBox="1"/>
          <p:nvPr/>
        </p:nvSpPr>
        <p:spPr>
          <a:xfrm>
            <a:off x="2863764" y="4848235"/>
            <a:ext cx="267900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Analyse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des données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6D8737-E700-03F3-CAE6-B2E02BC2CFA2}"/>
              </a:ext>
            </a:extLst>
          </p:cNvPr>
          <p:cNvSpPr txBox="1"/>
          <p:nvPr/>
        </p:nvSpPr>
        <p:spPr>
          <a:xfrm>
            <a:off x="4150068" y="4478903"/>
            <a:ext cx="1945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sz="1800" dirty="0"/>
              <a:t>ipeline technique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5680A2-1DD0-6DAD-1C53-B3096FCE8A53}"/>
              </a:ext>
            </a:extLst>
          </p:cNvPr>
          <p:cNvSpPr txBox="1"/>
          <p:nvPr/>
        </p:nvSpPr>
        <p:spPr>
          <a:xfrm>
            <a:off x="6054437" y="3617479"/>
            <a:ext cx="263962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Démonstration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direct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9E0D20-6736-DCC8-2138-42C027A07970}"/>
              </a:ext>
            </a:extLst>
          </p:cNvPr>
          <p:cNvSpPr txBox="1"/>
          <p:nvPr/>
        </p:nvSpPr>
        <p:spPr>
          <a:xfrm>
            <a:off x="8363211" y="2972702"/>
            <a:ext cx="1030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Résultats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170363-3ACC-E07C-07F5-A34AE66CF3AF}"/>
              </a:ext>
            </a:extLst>
          </p:cNvPr>
          <p:cNvSpPr txBox="1"/>
          <p:nvPr/>
        </p:nvSpPr>
        <p:spPr>
          <a:xfrm>
            <a:off x="9539820" y="2511656"/>
            <a:ext cx="1814861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RSE &amp; conclusion</a:t>
            </a:r>
          </a:p>
        </p:txBody>
      </p:sp>
      <p:sp>
        <p:nvSpPr>
          <p:cNvPr id="33" name="Extract 32">
            <a:extLst>
              <a:ext uri="{FF2B5EF4-FFF2-40B4-BE49-F238E27FC236}">
                <a16:creationId xmlns:a16="http://schemas.microsoft.com/office/drawing/2014/main" id="{4046D3F5-E7F1-84B5-281C-B3C122317D4D}"/>
              </a:ext>
            </a:extLst>
          </p:cNvPr>
          <p:cNvSpPr/>
          <p:nvPr/>
        </p:nvSpPr>
        <p:spPr>
          <a:xfrm>
            <a:off x="2310532" y="4976256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xtract 33">
            <a:extLst>
              <a:ext uri="{FF2B5EF4-FFF2-40B4-BE49-F238E27FC236}">
                <a16:creationId xmlns:a16="http://schemas.microsoft.com/office/drawing/2014/main" id="{05CC55A4-059D-0F73-9D31-0CF81D622FC3}"/>
              </a:ext>
            </a:extLst>
          </p:cNvPr>
          <p:cNvSpPr/>
          <p:nvPr/>
        </p:nvSpPr>
        <p:spPr>
          <a:xfrm>
            <a:off x="3397371" y="4600863"/>
            <a:ext cx="175153" cy="323795"/>
          </a:xfrm>
          <a:prstGeom prst="flowChartExtra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xtract 34">
            <a:extLst>
              <a:ext uri="{FF2B5EF4-FFF2-40B4-BE49-F238E27FC236}">
                <a16:creationId xmlns:a16="http://schemas.microsoft.com/office/drawing/2014/main" id="{7C9B130F-856B-19D0-7A1A-909A2371DC2C}"/>
              </a:ext>
            </a:extLst>
          </p:cNvPr>
          <p:cNvSpPr/>
          <p:nvPr/>
        </p:nvSpPr>
        <p:spPr>
          <a:xfrm>
            <a:off x="4533730" y="4186152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xtract 35">
            <a:extLst>
              <a:ext uri="{FF2B5EF4-FFF2-40B4-BE49-F238E27FC236}">
                <a16:creationId xmlns:a16="http://schemas.microsoft.com/office/drawing/2014/main" id="{9280FEB3-0A86-CBC8-9C5A-34EACFFC38BC}"/>
              </a:ext>
            </a:extLst>
          </p:cNvPr>
          <p:cNvSpPr/>
          <p:nvPr/>
        </p:nvSpPr>
        <p:spPr>
          <a:xfrm>
            <a:off x="6657916" y="3413238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xtract 36">
            <a:extLst>
              <a:ext uri="{FF2B5EF4-FFF2-40B4-BE49-F238E27FC236}">
                <a16:creationId xmlns:a16="http://schemas.microsoft.com/office/drawing/2014/main" id="{6375917F-AF1D-226B-1CB5-A07BBF7F7802}"/>
              </a:ext>
            </a:extLst>
          </p:cNvPr>
          <p:cNvSpPr/>
          <p:nvPr/>
        </p:nvSpPr>
        <p:spPr>
          <a:xfrm>
            <a:off x="8733989" y="2670544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xtract 37">
            <a:extLst>
              <a:ext uri="{FF2B5EF4-FFF2-40B4-BE49-F238E27FC236}">
                <a16:creationId xmlns:a16="http://schemas.microsoft.com/office/drawing/2014/main" id="{B7904051-68F4-A92B-FFC2-6B5D6B77C74C}"/>
              </a:ext>
            </a:extLst>
          </p:cNvPr>
          <p:cNvSpPr/>
          <p:nvPr/>
        </p:nvSpPr>
        <p:spPr>
          <a:xfrm>
            <a:off x="10082791" y="2187861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94E3025E-5A27-9B5D-ACBD-BBC3EF312833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E52C6-7922-2E68-794F-C136CDA85A9C}"/>
              </a:ext>
            </a:extLst>
          </p:cNvPr>
          <p:cNvSpPr txBox="1"/>
          <p:nvPr/>
        </p:nvSpPr>
        <p:spPr>
          <a:xfrm>
            <a:off x="11644828" y="628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6" name="Picture 2" descr="🌐">
            <a:extLst>
              <a:ext uri="{FF2B5EF4-FFF2-40B4-BE49-F238E27FC236}">
                <a16:creationId xmlns:a16="http://schemas.microsoft.com/office/drawing/2014/main" id="{87BF0013-874D-4D20-37DC-9E02BE3FF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65F9E1-8ACE-260D-D540-599455A3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672CF5-5701-3C80-9509-5411A2ABF560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5758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2BD3A-7587-32B7-9F2B-55AE71D6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5648-C626-D61E-1F74-7B0E1335A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99476" y="220272"/>
            <a:ext cx="9144000" cy="995363"/>
          </a:xfrm>
        </p:spPr>
        <p:txBody>
          <a:bodyPr>
            <a:normAutofit/>
          </a:bodyPr>
          <a:lstStyle/>
          <a:p>
            <a:r>
              <a:rPr lang="en-US" b="1" dirty="0" err="1"/>
              <a:t>Analyse</a:t>
            </a:r>
            <a:r>
              <a:rPr lang="en-US" b="1" dirty="0"/>
              <a:t> des données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4D7D42-C3D5-2AA6-8294-846EDDA15319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D3680-5799-F7F1-DB60-D2E95E5E7BD9}"/>
              </a:ext>
            </a:extLst>
          </p:cNvPr>
          <p:cNvSpPr txBox="1"/>
          <p:nvPr/>
        </p:nvSpPr>
        <p:spPr>
          <a:xfrm>
            <a:off x="4911474" y="1297150"/>
            <a:ext cx="6595532" cy="3622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sz="2400" dirty="0">
                <a:effectLst/>
                <a:latin typeface="Helvetica Neue" panose="02000503000000020004" pitchFamily="2" charset="0"/>
              </a:rPr>
              <a:t>128 992 éclairs CG</a:t>
            </a:r>
          </a:p>
          <a:p>
            <a:pPr>
              <a:lnSpc>
                <a:spcPct val="250000"/>
              </a:lnSpc>
              <a:buNone/>
            </a:pPr>
            <a:r>
              <a:rPr lang="en-US" sz="2400" dirty="0">
                <a:effectLst/>
                <a:latin typeface="Helvetica Neue" panose="02000503000000020004" pitchFamily="2" charset="0"/>
              </a:rPr>
              <a:t>2 627 </a:t>
            </a:r>
            <a:r>
              <a:rPr lang="en-US" sz="2400" dirty="0" err="1">
                <a:effectLst/>
                <a:latin typeface="Helvetica Neue" panose="02000503000000020004" pitchFamily="2" charset="0"/>
              </a:rPr>
              <a:t>alertes</a:t>
            </a:r>
            <a:endParaRPr lang="en-US" sz="2400" dirty="0">
              <a:latin typeface="Helvetica Neue" panose="02000503000000020004" pitchFamily="2" charset="0"/>
            </a:endParaRPr>
          </a:p>
          <a:p>
            <a:pPr>
              <a:lnSpc>
                <a:spcPct val="250000"/>
              </a:lnSpc>
              <a:buNone/>
            </a:pPr>
            <a:r>
              <a:rPr lang="en-US" sz="2400" dirty="0">
                <a:effectLst/>
                <a:latin typeface="Helvetica Neue" panose="02000503000000020004" pitchFamily="2" charset="0"/>
              </a:rPr>
              <a:t>5 </a:t>
            </a:r>
            <a:r>
              <a:rPr lang="en-US" sz="2400" dirty="0" err="1">
                <a:effectLst/>
                <a:latin typeface="Helvetica Neue" panose="02000503000000020004" pitchFamily="2" charset="0"/>
              </a:rPr>
              <a:t>aéroports</a:t>
            </a:r>
            <a:endParaRPr lang="en-US" sz="2400" dirty="0">
              <a:latin typeface="Helvetica Neue" panose="02000503000000020004" pitchFamily="2" charset="0"/>
            </a:endParaRPr>
          </a:p>
          <a:p>
            <a:pPr>
              <a:lnSpc>
                <a:spcPct val="250000"/>
              </a:lnSpc>
              <a:buNone/>
            </a:pPr>
            <a:r>
              <a:rPr lang="en-US" sz="2400" dirty="0">
                <a:effectLst/>
                <a:latin typeface="Helvetica Neue" panose="02000503000000020004" pitchFamily="2" charset="0"/>
              </a:rPr>
              <a:t>10 </a:t>
            </a:r>
            <a:r>
              <a:rPr lang="en-US" sz="2400" dirty="0" err="1">
                <a:effectLst/>
                <a:latin typeface="Helvetica Neue" panose="02000503000000020004" pitchFamily="2" charset="0"/>
              </a:rPr>
              <a:t>ans</a:t>
            </a:r>
            <a:endParaRPr lang="en-US" sz="240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1E580-7474-E062-D382-7811C0BAA4F8}"/>
              </a:ext>
            </a:extLst>
          </p:cNvPr>
          <p:cNvSpPr txBox="1"/>
          <p:nvPr/>
        </p:nvSpPr>
        <p:spPr>
          <a:xfrm>
            <a:off x="4229715" y="1716330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DBB34-21F6-EF8C-E4BA-9F025ED4AB70}"/>
              </a:ext>
            </a:extLst>
          </p:cNvPr>
          <p:cNvSpPr txBox="1"/>
          <p:nvPr/>
        </p:nvSpPr>
        <p:spPr>
          <a:xfrm>
            <a:off x="4211438" y="2589807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0F440-80BA-AD79-E5B6-832278B2D9B0}"/>
              </a:ext>
            </a:extLst>
          </p:cNvPr>
          <p:cNvSpPr txBox="1"/>
          <p:nvPr/>
        </p:nvSpPr>
        <p:spPr>
          <a:xfrm>
            <a:off x="4211438" y="3559301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BEB7F2-902E-FF5E-A71F-3CDFF8D75AA1}"/>
              </a:ext>
            </a:extLst>
          </p:cNvPr>
          <p:cNvSpPr txBox="1"/>
          <p:nvPr/>
        </p:nvSpPr>
        <p:spPr>
          <a:xfrm>
            <a:off x="4229715" y="446723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5D5CB2-B4EF-6615-FFFF-C27B6AF92CC6}"/>
              </a:ext>
            </a:extLst>
          </p:cNvPr>
          <p:cNvSpPr txBox="1"/>
          <p:nvPr/>
        </p:nvSpPr>
        <p:spPr>
          <a:xfrm>
            <a:off x="2701322" y="5519359"/>
            <a:ext cx="7178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</a:t>
            </a:r>
            <a:r>
              <a:rPr lang="en-US" i="1" dirty="0" err="1"/>
              <a:t>airport_alert_id</a:t>
            </a:r>
            <a:r>
              <a:rPr lang="en-US" i="1" dirty="0"/>
              <a:t>” </a:t>
            </a:r>
            <a:r>
              <a:rPr lang="en-US" dirty="0" err="1"/>
              <a:t>n’est</a:t>
            </a:r>
            <a:r>
              <a:rPr lang="en-US" dirty="0"/>
              <a:t> pas unique </a:t>
            </a:r>
            <a:r>
              <a:rPr lang="en-US" dirty="0" err="1"/>
              <a:t>globalement</a:t>
            </a:r>
            <a:r>
              <a:rPr lang="en-US" dirty="0"/>
              <a:t>, </a:t>
            </a:r>
            <a:r>
              <a:rPr lang="en-US" dirty="0" err="1"/>
              <a:t>clé</a:t>
            </a:r>
            <a:r>
              <a:rPr lang="en-US" dirty="0"/>
              <a:t> composite </a:t>
            </a:r>
            <a:r>
              <a:rPr lang="en-US" dirty="0" err="1"/>
              <a:t>nécessaire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77C5C1-6C92-89F3-1DFD-2885F3102508}"/>
              </a:ext>
            </a:extLst>
          </p:cNvPr>
          <p:cNvSpPr txBox="1"/>
          <p:nvPr/>
        </p:nvSpPr>
        <p:spPr>
          <a:xfrm>
            <a:off x="1993567" y="5486173"/>
            <a:ext cx="707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‼️</a:t>
            </a:r>
            <a:endParaRPr lang="en-US" sz="3200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A7A20AA9-B56F-5F11-31A8-A348D1A363EE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E40F4-2C3E-D836-1C88-7016ED083DD7}"/>
              </a:ext>
            </a:extLst>
          </p:cNvPr>
          <p:cNvSpPr txBox="1"/>
          <p:nvPr/>
        </p:nvSpPr>
        <p:spPr>
          <a:xfrm>
            <a:off x="11644828" y="628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14" name="Picture 2" descr="🌐">
            <a:extLst>
              <a:ext uri="{FF2B5EF4-FFF2-40B4-BE49-F238E27FC236}">
                <a16:creationId xmlns:a16="http://schemas.microsoft.com/office/drawing/2014/main" id="{6B8DEF38-CFED-7181-EA97-3E3A794A0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8BE120-D6E6-74F6-A833-BF39532C2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350B40-D533-6127-7041-D677A2499C61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66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7E8F-3B6B-703D-C4FB-FE2877A61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CBDC-55CD-B40D-1DCD-63587C136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14291" y="377605"/>
            <a:ext cx="9144000" cy="935575"/>
          </a:xfrm>
        </p:spPr>
        <p:txBody>
          <a:bodyPr>
            <a:normAutofit/>
          </a:bodyPr>
          <a:lstStyle/>
          <a:p>
            <a:r>
              <a:rPr lang="en-US" b="1" dirty="0"/>
              <a:t>Plan de la </a:t>
            </a:r>
            <a:r>
              <a:rPr lang="en-US" b="1" dirty="0" err="1"/>
              <a:t>présentation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6E949-95F9-545E-720E-9C47573E8FED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AD58687F-AD4F-0D5F-E2EF-5EDB77773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134" y="-1282579"/>
            <a:ext cx="4642338" cy="293663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Le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BE895F4D-1DE1-58E2-55B9-6C16F2DBE603}"/>
              </a:ext>
            </a:extLst>
          </p:cNvPr>
          <p:cNvSpPr/>
          <p:nvPr/>
        </p:nvSpPr>
        <p:spPr>
          <a:xfrm rot="14992246">
            <a:off x="6298863" y="-1329399"/>
            <a:ext cx="500372" cy="9032921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32DEADFD-F234-D6F1-D975-9185F59ED4E6}"/>
              </a:ext>
            </a:extLst>
          </p:cNvPr>
          <p:cNvSpPr/>
          <p:nvPr/>
        </p:nvSpPr>
        <p:spPr>
          <a:xfrm>
            <a:off x="8625122" y="214933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5" name="Donut 14">
            <a:extLst>
              <a:ext uri="{FF2B5EF4-FFF2-40B4-BE49-F238E27FC236}">
                <a16:creationId xmlns:a16="http://schemas.microsoft.com/office/drawing/2014/main" id="{C3FD95D0-0E7E-88BA-D40C-295ECFB1DE3E}"/>
              </a:ext>
            </a:extLst>
          </p:cNvPr>
          <p:cNvSpPr/>
          <p:nvPr/>
        </p:nvSpPr>
        <p:spPr>
          <a:xfrm>
            <a:off x="6549049" y="2902141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Donut 15">
            <a:extLst>
              <a:ext uri="{FF2B5EF4-FFF2-40B4-BE49-F238E27FC236}">
                <a16:creationId xmlns:a16="http://schemas.microsoft.com/office/drawing/2014/main" id="{AB06C387-84F3-C264-4A1E-374AAF2A3874}"/>
              </a:ext>
            </a:extLst>
          </p:cNvPr>
          <p:cNvSpPr/>
          <p:nvPr/>
        </p:nvSpPr>
        <p:spPr>
          <a:xfrm>
            <a:off x="4424863" y="3682153"/>
            <a:ext cx="392888" cy="427400"/>
          </a:xfrm>
          <a:prstGeom prst="donut">
            <a:avLst/>
          </a:prstGeom>
          <a:solidFill>
            <a:schemeClr val="bg1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7" name="Donut 16">
            <a:extLst>
              <a:ext uri="{FF2B5EF4-FFF2-40B4-BE49-F238E27FC236}">
                <a16:creationId xmlns:a16="http://schemas.microsoft.com/office/drawing/2014/main" id="{A870142D-FB3A-CE55-7C5A-9839A2BCFA1C}"/>
              </a:ext>
            </a:extLst>
          </p:cNvPr>
          <p:cNvSpPr/>
          <p:nvPr/>
        </p:nvSpPr>
        <p:spPr>
          <a:xfrm>
            <a:off x="9973924" y="165405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19FBC4F1-5632-8C29-C6BF-D28808865926}"/>
              </a:ext>
            </a:extLst>
          </p:cNvPr>
          <p:cNvSpPr/>
          <p:nvPr/>
        </p:nvSpPr>
        <p:spPr>
          <a:xfrm>
            <a:off x="3278237" y="4104280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2244AA-6DA8-B125-5915-70EA4CA03044}"/>
              </a:ext>
            </a:extLst>
          </p:cNvPr>
          <p:cNvSpPr txBox="1"/>
          <p:nvPr/>
        </p:nvSpPr>
        <p:spPr>
          <a:xfrm>
            <a:off x="2863764" y="4848235"/>
            <a:ext cx="267900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Analyse</a:t>
            </a:r>
            <a:r>
              <a:rPr lang="en-US" sz="1800" dirty="0"/>
              <a:t> des données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960671-06E7-C0F4-FD7F-45A43D7C2CE2}"/>
              </a:ext>
            </a:extLst>
          </p:cNvPr>
          <p:cNvSpPr txBox="1"/>
          <p:nvPr/>
        </p:nvSpPr>
        <p:spPr>
          <a:xfrm>
            <a:off x="4150068" y="4478903"/>
            <a:ext cx="1945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ipeline technique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88CB5C-F451-6166-C58F-36E22DC6D430}"/>
              </a:ext>
            </a:extLst>
          </p:cNvPr>
          <p:cNvSpPr txBox="1"/>
          <p:nvPr/>
        </p:nvSpPr>
        <p:spPr>
          <a:xfrm>
            <a:off x="6054437" y="3617479"/>
            <a:ext cx="263962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Démonstration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direct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1F921A-0D2E-4534-1F19-B8FAE413C5C3}"/>
              </a:ext>
            </a:extLst>
          </p:cNvPr>
          <p:cNvSpPr txBox="1"/>
          <p:nvPr/>
        </p:nvSpPr>
        <p:spPr>
          <a:xfrm>
            <a:off x="8363211" y="2972702"/>
            <a:ext cx="1030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Résultats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187FE0-AC10-2216-D3B7-BC1C8C0931CF}"/>
              </a:ext>
            </a:extLst>
          </p:cNvPr>
          <p:cNvSpPr txBox="1"/>
          <p:nvPr/>
        </p:nvSpPr>
        <p:spPr>
          <a:xfrm>
            <a:off x="9539820" y="2511656"/>
            <a:ext cx="1814861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RSE &amp; conclusion</a:t>
            </a:r>
          </a:p>
        </p:txBody>
      </p:sp>
      <p:sp>
        <p:nvSpPr>
          <p:cNvPr id="34" name="Extract 33">
            <a:extLst>
              <a:ext uri="{FF2B5EF4-FFF2-40B4-BE49-F238E27FC236}">
                <a16:creationId xmlns:a16="http://schemas.microsoft.com/office/drawing/2014/main" id="{7120559E-C30A-CA9E-13BB-CBDC7CFC1261}"/>
              </a:ext>
            </a:extLst>
          </p:cNvPr>
          <p:cNvSpPr/>
          <p:nvPr/>
        </p:nvSpPr>
        <p:spPr>
          <a:xfrm>
            <a:off x="3397371" y="4600863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xtract 34">
            <a:extLst>
              <a:ext uri="{FF2B5EF4-FFF2-40B4-BE49-F238E27FC236}">
                <a16:creationId xmlns:a16="http://schemas.microsoft.com/office/drawing/2014/main" id="{4D261D2A-C958-DB16-56BE-AA199EE0233A}"/>
              </a:ext>
            </a:extLst>
          </p:cNvPr>
          <p:cNvSpPr/>
          <p:nvPr/>
        </p:nvSpPr>
        <p:spPr>
          <a:xfrm>
            <a:off x="4533730" y="4186152"/>
            <a:ext cx="175153" cy="323795"/>
          </a:xfrm>
          <a:prstGeom prst="flowChartExtra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xtract 35">
            <a:extLst>
              <a:ext uri="{FF2B5EF4-FFF2-40B4-BE49-F238E27FC236}">
                <a16:creationId xmlns:a16="http://schemas.microsoft.com/office/drawing/2014/main" id="{37198E67-484D-51AC-0D11-F653A3D7EE90}"/>
              </a:ext>
            </a:extLst>
          </p:cNvPr>
          <p:cNvSpPr/>
          <p:nvPr/>
        </p:nvSpPr>
        <p:spPr>
          <a:xfrm>
            <a:off x="6657916" y="3413238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xtract 36">
            <a:extLst>
              <a:ext uri="{FF2B5EF4-FFF2-40B4-BE49-F238E27FC236}">
                <a16:creationId xmlns:a16="http://schemas.microsoft.com/office/drawing/2014/main" id="{03ABFB6F-82B3-A775-B929-0AD84D09BC7B}"/>
              </a:ext>
            </a:extLst>
          </p:cNvPr>
          <p:cNvSpPr/>
          <p:nvPr/>
        </p:nvSpPr>
        <p:spPr>
          <a:xfrm>
            <a:off x="8733989" y="2670544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xtract 37">
            <a:extLst>
              <a:ext uri="{FF2B5EF4-FFF2-40B4-BE49-F238E27FC236}">
                <a16:creationId xmlns:a16="http://schemas.microsoft.com/office/drawing/2014/main" id="{1606AB92-BCAA-7168-FBF5-E048408C3D38}"/>
              </a:ext>
            </a:extLst>
          </p:cNvPr>
          <p:cNvSpPr/>
          <p:nvPr/>
        </p:nvSpPr>
        <p:spPr>
          <a:xfrm>
            <a:off x="10082791" y="2187861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nut 2">
            <a:extLst>
              <a:ext uri="{FF2B5EF4-FFF2-40B4-BE49-F238E27FC236}">
                <a16:creationId xmlns:a16="http://schemas.microsoft.com/office/drawing/2014/main" id="{2A78328A-3E1A-A521-D41F-5B4855F123A3}"/>
              </a:ext>
            </a:extLst>
          </p:cNvPr>
          <p:cNvSpPr/>
          <p:nvPr/>
        </p:nvSpPr>
        <p:spPr>
          <a:xfrm>
            <a:off x="2222361" y="449110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34A4C-D69C-E9B8-C6B2-A6033AC95CE8}"/>
              </a:ext>
            </a:extLst>
          </p:cNvPr>
          <p:cNvSpPr txBox="1"/>
          <p:nvPr/>
        </p:nvSpPr>
        <p:spPr>
          <a:xfrm>
            <a:off x="1635127" y="5229784"/>
            <a:ext cx="1567356" cy="46487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Problèmatique</a:t>
            </a:r>
            <a:endParaRPr lang="en-US" sz="1800" dirty="0"/>
          </a:p>
        </p:txBody>
      </p:sp>
      <p:sp>
        <p:nvSpPr>
          <p:cNvPr id="6" name="Extract 5">
            <a:extLst>
              <a:ext uri="{FF2B5EF4-FFF2-40B4-BE49-F238E27FC236}">
                <a16:creationId xmlns:a16="http://schemas.microsoft.com/office/drawing/2014/main" id="{6DB8E9DD-AE1C-6DBF-BD84-0ACF2CE8192F}"/>
              </a:ext>
            </a:extLst>
          </p:cNvPr>
          <p:cNvSpPr/>
          <p:nvPr/>
        </p:nvSpPr>
        <p:spPr>
          <a:xfrm>
            <a:off x="2310532" y="4976256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2A25CA43-DEEC-6DDD-071B-ED83C4004E3D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24760-D383-1A4E-5231-890A37D31368}"/>
              </a:ext>
            </a:extLst>
          </p:cNvPr>
          <p:cNvSpPr txBox="1"/>
          <p:nvPr/>
        </p:nvSpPr>
        <p:spPr>
          <a:xfrm>
            <a:off x="11644828" y="628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9" name="Picture 2" descr="🌐">
            <a:extLst>
              <a:ext uri="{FF2B5EF4-FFF2-40B4-BE49-F238E27FC236}">
                <a16:creationId xmlns:a16="http://schemas.microsoft.com/office/drawing/2014/main" id="{64020EF2-22D3-841D-00A6-46EC1DC52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300A53-5410-1899-1846-4B9BD75F2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2D6483E-48E8-855C-9AE7-D3E931DCAE2D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72430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7DFD-3172-D9B3-F9D5-BEE99D9A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6F10-E741-60F9-14EC-349AAB4C3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69680" y="131175"/>
            <a:ext cx="9144000" cy="995363"/>
          </a:xfrm>
        </p:spPr>
        <p:txBody>
          <a:bodyPr>
            <a:normAutofit/>
          </a:bodyPr>
          <a:lstStyle/>
          <a:p>
            <a:r>
              <a:rPr lang="en-US" b="1" dirty="0"/>
              <a:t>Pipeline technique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F37882-6FF5-CB84-03D2-5587D5545D8C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183795-878C-9840-3D41-A0FE34EF63A8}"/>
              </a:ext>
            </a:extLst>
          </p:cNvPr>
          <p:cNvSpPr txBox="1"/>
          <p:nvPr/>
        </p:nvSpPr>
        <p:spPr>
          <a:xfrm>
            <a:off x="1647257" y="3344835"/>
            <a:ext cx="308770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/>
              <a:t>Ingénierie</a:t>
            </a:r>
            <a:r>
              <a:rPr lang="en-US" sz="2400" dirty="0"/>
              <a:t> des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8965D-BF4C-EB9C-F462-D751CFFA5199}"/>
              </a:ext>
            </a:extLst>
          </p:cNvPr>
          <p:cNvSpPr txBox="1"/>
          <p:nvPr/>
        </p:nvSpPr>
        <p:spPr>
          <a:xfrm>
            <a:off x="7556190" y="3375613"/>
            <a:ext cx="189186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/>
              <a:t>Entraînement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30CC1-BCEB-D21D-0E26-2B62E3561573}"/>
              </a:ext>
            </a:extLst>
          </p:cNvPr>
          <p:cNvSpPr txBox="1"/>
          <p:nvPr/>
        </p:nvSpPr>
        <p:spPr>
          <a:xfrm>
            <a:off x="5182973" y="4755504"/>
            <a:ext cx="1489510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/>
              <a:t>Évaluation</a:t>
            </a:r>
            <a:endParaRPr lang="en-US" sz="2400" dirty="0"/>
          </a:p>
        </p:txBody>
      </p:sp>
      <p:sp>
        <p:nvSpPr>
          <p:cNvPr id="10" name="Bent Arrow 9">
            <a:extLst>
              <a:ext uri="{FF2B5EF4-FFF2-40B4-BE49-F238E27FC236}">
                <a16:creationId xmlns:a16="http://schemas.microsoft.com/office/drawing/2014/main" id="{F7AAC354-5F77-1E95-5F7F-0245BDD9F944}"/>
              </a:ext>
            </a:extLst>
          </p:cNvPr>
          <p:cNvSpPr/>
          <p:nvPr/>
        </p:nvSpPr>
        <p:spPr>
          <a:xfrm rot="10800000">
            <a:off x="6672483" y="3837278"/>
            <a:ext cx="1408434" cy="1287558"/>
          </a:xfrm>
          <a:prstGeom prst="bentArrow">
            <a:avLst>
              <a:gd name="adj1" fmla="val 7801"/>
              <a:gd name="adj2" fmla="val 15191"/>
              <a:gd name="adj3" fmla="val 20555"/>
              <a:gd name="adj4" fmla="val 66985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Bent Arrow 12">
            <a:extLst>
              <a:ext uri="{FF2B5EF4-FFF2-40B4-BE49-F238E27FC236}">
                <a16:creationId xmlns:a16="http://schemas.microsoft.com/office/drawing/2014/main" id="{F3B1BDC8-6525-A8D2-878A-2250440899A3}"/>
              </a:ext>
            </a:extLst>
          </p:cNvPr>
          <p:cNvSpPr/>
          <p:nvPr/>
        </p:nvSpPr>
        <p:spPr>
          <a:xfrm rot="16200000">
            <a:off x="3527743" y="3406421"/>
            <a:ext cx="1255153" cy="2055309"/>
          </a:xfrm>
          <a:prstGeom prst="bentArrow">
            <a:avLst>
              <a:gd name="adj1" fmla="val 8621"/>
              <a:gd name="adj2" fmla="val 15191"/>
              <a:gd name="adj3" fmla="val 20555"/>
              <a:gd name="adj4" fmla="val 60362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D57ECCD3-C61E-21E7-C669-404719AE1C74}"/>
              </a:ext>
            </a:extLst>
          </p:cNvPr>
          <p:cNvSpPr/>
          <p:nvPr/>
        </p:nvSpPr>
        <p:spPr>
          <a:xfrm>
            <a:off x="4734962" y="3512126"/>
            <a:ext cx="2821228" cy="207819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77108-2738-37D0-8DBA-F4F048D33D96}"/>
              </a:ext>
            </a:extLst>
          </p:cNvPr>
          <p:cNvSpPr txBox="1"/>
          <p:nvPr/>
        </p:nvSpPr>
        <p:spPr>
          <a:xfrm>
            <a:off x="5594095" y="5283031"/>
            <a:ext cx="667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7DE16-0DEC-51CE-D280-7A1BBCDE3573}"/>
              </a:ext>
            </a:extLst>
          </p:cNvPr>
          <p:cNvSpPr txBox="1"/>
          <p:nvPr/>
        </p:nvSpPr>
        <p:spPr>
          <a:xfrm>
            <a:off x="9448055" y="3375613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🤖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2619A9-04DB-EEBF-9697-4072F6BA4B13}"/>
              </a:ext>
            </a:extLst>
          </p:cNvPr>
          <p:cNvSpPr txBox="1"/>
          <p:nvPr/>
        </p:nvSpPr>
        <p:spPr>
          <a:xfrm>
            <a:off x="876079" y="337561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📂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25B3A6D8-6F40-F49B-70BF-07358F6B9F59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09A32-7474-E923-CBBC-F0C66F166DFA}"/>
              </a:ext>
            </a:extLst>
          </p:cNvPr>
          <p:cNvSpPr txBox="1"/>
          <p:nvPr/>
        </p:nvSpPr>
        <p:spPr>
          <a:xfrm>
            <a:off x="11644828" y="628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8" name="Picture 2" descr="🌐">
            <a:extLst>
              <a:ext uri="{FF2B5EF4-FFF2-40B4-BE49-F238E27FC236}">
                <a16:creationId xmlns:a16="http://schemas.microsoft.com/office/drawing/2014/main" id="{49B3359D-23BA-684B-12C6-3E0E58A02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5E4D36-1570-E2BE-8ABE-104D8C34E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C5209D-314D-7858-651F-A33231979391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1487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3E637-20EB-07D2-0250-A3022E67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A06C-9578-B561-11C4-8E9656C50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1635" y="118819"/>
            <a:ext cx="12475270" cy="995363"/>
          </a:xfrm>
        </p:spPr>
        <p:txBody>
          <a:bodyPr>
            <a:normAutofit/>
          </a:bodyPr>
          <a:lstStyle/>
          <a:p>
            <a:r>
              <a:rPr lang="en-US" b="1" dirty="0"/>
              <a:t>Pipeline technique - </a:t>
            </a:r>
            <a:r>
              <a:rPr lang="en-US" sz="4400" dirty="0" err="1"/>
              <a:t>Ingénierie</a:t>
            </a:r>
            <a:r>
              <a:rPr lang="en-US" sz="4400" dirty="0"/>
              <a:t> des données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0EFCE7-F568-C9F6-EFED-C0504FEB9908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DB48A07-AC14-1D3D-E727-BE3C9402D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5339962"/>
            <a:ext cx="5187266" cy="15180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514D23E-4572-9B8F-BA02-F762F6DBCD8C}"/>
              </a:ext>
            </a:extLst>
          </p:cNvPr>
          <p:cNvSpPr txBox="1"/>
          <p:nvPr/>
        </p:nvSpPr>
        <p:spPr>
          <a:xfrm>
            <a:off x="700376" y="1647334"/>
            <a:ext cx="8615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37</a:t>
            </a:r>
            <a:r>
              <a:rPr lang="en-US" sz="2400" b="1" dirty="0"/>
              <a:t> features </a:t>
            </a:r>
            <a:r>
              <a:rPr lang="en-US" sz="2400" b="1" dirty="0" err="1"/>
              <a:t>construites</a:t>
            </a:r>
            <a:r>
              <a:rPr lang="en-US" sz="2400" b="1" dirty="0"/>
              <a:t> </a:t>
            </a:r>
          </a:p>
          <a:p>
            <a:r>
              <a:rPr lang="en-US" dirty="0" err="1"/>
              <a:t>fenêtres</a:t>
            </a:r>
            <a:r>
              <a:rPr lang="en-US" dirty="0"/>
              <a:t> </a:t>
            </a:r>
            <a:r>
              <a:rPr lang="en-US" dirty="0" err="1"/>
              <a:t>glissantes</a:t>
            </a:r>
            <a:r>
              <a:rPr lang="en-US" dirty="0"/>
              <a:t> (5/10/15/30 min), temps inter-éclair, tendances </a:t>
            </a:r>
            <a:r>
              <a:rPr lang="en-US" dirty="0" err="1"/>
              <a:t>d'amplitude</a:t>
            </a:r>
            <a:r>
              <a:rPr lang="en-US" dirty="0"/>
              <a:t> et de distance, </a:t>
            </a:r>
            <a:r>
              <a:rPr lang="en-US" dirty="0" err="1"/>
              <a:t>encodage</a:t>
            </a:r>
            <a:r>
              <a:rPr lang="en-US" dirty="0"/>
              <a:t> </a:t>
            </a:r>
            <a:r>
              <a:rPr lang="en-US" dirty="0" err="1"/>
              <a:t>cyclique</a:t>
            </a:r>
            <a:r>
              <a:rPr lang="en-US" dirty="0"/>
              <a:t>, et </a:t>
            </a:r>
            <a:r>
              <a:rPr lang="en-US" dirty="0" err="1"/>
              <a:t>comptage</a:t>
            </a:r>
            <a:r>
              <a:rPr lang="en-US" dirty="0"/>
              <a:t> </a:t>
            </a:r>
            <a:r>
              <a:rPr lang="en-US" dirty="0" err="1"/>
              <a:t>dédié</a:t>
            </a:r>
            <a:r>
              <a:rPr lang="en-US" dirty="0"/>
              <a:t> des éclairs à </a:t>
            </a:r>
            <a:r>
              <a:rPr lang="en-US" dirty="0" err="1"/>
              <a:t>moins</a:t>
            </a:r>
            <a:r>
              <a:rPr lang="en-US" dirty="0"/>
              <a:t> de 3 km.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306B0E-3012-59A8-8103-50B13AA96A67}"/>
              </a:ext>
            </a:extLst>
          </p:cNvPr>
          <p:cNvSpPr txBox="1"/>
          <p:nvPr/>
        </p:nvSpPr>
        <p:spPr>
          <a:xfrm>
            <a:off x="6748088" y="3503925"/>
            <a:ext cx="513473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1</a:t>
            </a:r>
            <a:r>
              <a:rPr lang="en-US" sz="2400" b="1" dirty="0"/>
              <a:t> Clé unique par </a:t>
            </a:r>
            <a:r>
              <a:rPr lang="en-US" sz="2400" b="1" dirty="0" err="1"/>
              <a:t>alerte</a:t>
            </a:r>
            <a:endParaRPr lang="en-US" sz="2400" b="1" dirty="0"/>
          </a:p>
          <a:p>
            <a:r>
              <a:rPr lang="en-US" i="1" dirty="0"/>
              <a:t>car “</a:t>
            </a:r>
            <a:r>
              <a:rPr lang="en-US" i="1" dirty="0" err="1"/>
              <a:t>airport_alert_id</a:t>
            </a:r>
            <a:r>
              <a:rPr lang="en-US" i="1" dirty="0"/>
              <a:t>” </a:t>
            </a:r>
            <a:r>
              <a:rPr lang="en-US" dirty="0" err="1"/>
              <a:t>n’est</a:t>
            </a:r>
            <a:r>
              <a:rPr lang="en-US" dirty="0"/>
              <a:t> pas unique </a:t>
            </a:r>
            <a:r>
              <a:rPr lang="en-US" dirty="0" err="1"/>
              <a:t>globalement</a:t>
            </a:r>
            <a:endParaRPr 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C21790-F280-F4EB-E837-25B7505342DC}"/>
              </a:ext>
            </a:extLst>
          </p:cNvPr>
          <p:cNvSpPr txBox="1"/>
          <p:nvPr/>
        </p:nvSpPr>
        <p:spPr>
          <a:xfrm>
            <a:off x="6215778" y="3673201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9288666-691E-77AB-7043-37CE723DBC38}"/>
                  </a:ext>
                </a:extLst>
              </p14:cNvPr>
              <p14:cNvContentPartPr/>
              <p14:nvPr/>
            </p14:nvContentPartPr>
            <p14:xfrm>
              <a:off x="3570136" y="5171776"/>
              <a:ext cx="2228400" cy="909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9288666-691E-77AB-7043-37CE723DBC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1136" y="5163136"/>
                <a:ext cx="2246040" cy="9266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loud 2">
            <a:extLst>
              <a:ext uri="{FF2B5EF4-FFF2-40B4-BE49-F238E27FC236}">
                <a16:creationId xmlns:a16="http://schemas.microsoft.com/office/drawing/2014/main" id="{2701198E-5B02-6310-5997-2217A4BF45A9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481D6-AEA6-38A5-B11A-4BA4B4448C47}"/>
              </a:ext>
            </a:extLst>
          </p:cNvPr>
          <p:cNvSpPr txBox="1"/>
          <p:nvPr/>
        </p:nvSpPr>
        <p:spPr>
          <a:xfrm>
            <a:off x="11644828" y="628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5" name="Picture 2" descr="🌐">
            <a:extLst>
              <a:ext uri="{FF2B5EF4-FFF2-40B4-BE49-F238E27FC236}">
                <a16:creationId xmlns:a16="http://schemas.microsoft.com/office/drawing/2014/main" id="{F245C18D-4B23-2064-AC45-E836E1E1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C390EB-B411-5E21-1793-D19CE40C8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DD4D5E-E031-68BB-8667-E0CEFB30FD3E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57094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6ECAA-862A-C66D-E3C2-6717FAD6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A1CE-649E-156D-68F2-3333D1EBD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19443" y="118819"/>
            <a:ext cx="12475270" cy="995363"/>
          </a:xfrm>
        </p:spPr>
        <p:txBody>
          <a:bodyPr>
            <a:normAutofit/>
          </a:bodyPr>
          <a:lstStyle/>
          <a:p>
            <a:r>
              <a:rPr lang="en-US" b="1" dirty="0"/>
              <a:t>Pipeline technique - </a:t>
            </a:r>
            <a:r>
              <a:rPr lang="en-US" sz="4400" dirty="0" err="1"/>
              <a:t>Entraînement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E376E-19EC-C4D6-18A4-1DF6A5EBEB5B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C870F-8617-D58C-F579-B88DD78C4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5339962"/>
            <a:ext cx="5187266" cy="1518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C6AD6D-3BF2-673D-DE32-A76037CBEB5B}"/>
              </a:ext>
            </a:extLst>
          </p:cNvPr>
          <p:cNvSpPr txBox="1"/>
          <p:nvPr/>
        </p:nvSpPr>
        <p:spPr>
          <a:xfrm>
            <a:off x="1695454" y="1919091"/>
            <a:ext cx="947904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4</a:t>
            </a:r>
            <a:r>
              <a:rPr lang="en-US" sz="2400" b="1" dirty="0"/>
              <a:t> </a:t>
            </a:r>
            <a:r>
              <a:rPr lang="en-US" sz="2400" b="1" dirty="0" err="1"/>
              <a:t>modèles</a:t>
            </a:r>
            <a:r>
              <a:rPr lang="en-US" sz="2400" b="1" dirty="0"/>
              <a:t> </a:t>
            </a:r>
            <a:r>
              <a:rPr lang="en-US" sz="2400" b="1" dirty="0" err="1"/>
              <a:t>comparés</a:t>
            </a:r>
            <a:r>
              <a:rPr lang="en-US" sz="2400" b="1" dirty="0"/>
              <a:t> RF, </a:t>
            </a:r>
            <a:r>
              <a:rPr lang="en-US" sz="2400" b="1" dirty="0" err="1"/>
              <a:t>XGBoost</a:t>
            </a:r>
            <a:r>
              <a:rPr lang="en-US" sz="2400" b="1" dirty="0"/>
              <a:t>, Linear Regression, logistic Regression</a:t>
            </a:r>
          </a:p>
          <a:p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Heuristique</a:t>
            </a:r>
            <a:r>
              <a:rPr lang="en-US" dirty="0"/>
              <a:t> </a:t>
            </a:r>
            <a:r>
              <a:rPr lang="en-US" dirty="0" err="1"/>
              <a:t>s’est</a:t>
            </a:r>
            <a:r>
              <a:rPr lang="en-US" dirty="0"/>
              <a:t> </a:t>
            </a:r>
            <a:r>
              <a:rPr lang="en-US" dirty="0" err="1"/>
              <a:t>avéré</a:t>
            </a:r>
            <a:r>
              <a:rPr lang="en-US" dirty="0"/>
              <a:t> </a:t>
            </a:r>
            <a:r>
              <a:rPr lang="en-US" dirty="0" err="1"/>
              <a:t>meilleur</a:t>
            </a:r>
            <a:r>
              <a:rPr lang="en-US" dirty="0"/>
              <a:t> dans les </a:t>
            </a:r>
            <a:r>
              <a:rPr lang="en-US" dirty="0" err="1"/>
              <a:t>cas</a:t>
            </a:r>
            <a:r>
              <a:rPr lang="en-US" dirty="0"/>
              <a:t> complexes et non-</a:t>
            </a:r>
            <a:r>
              <a:rPr lang="en-US" dirty="0" err="1"/>
              <a:t>linéaires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670B2B-25CF-9F8F-815E-5B2985672622}"/>
              </a:ext>
            </a:extLst>
          </p:cNvPr>
          <p:cNvSpPr txBox="1"/>
          <p:nvPr/>
        </p:nvSpPr>
        <p:spPr>
          <a:xfrm>
            <a:off x="2179546" y="3534227"/>
            <a:ext cx="315983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Calibration </a:t>
            </a:r>
            <a:r>
              <a:rPr lang="en-US" sz="2400" b="1" dirty="0" err="1"/>
              <a:t>isotonique</a:t>
            </a:r>
            <a:r>
              <a:rPr lang="en-US" sz="2400" b="1" dirty="0"/>
              <a:t>*</a:t>
            </a:r>
          </a:p>
          <a:p>
            <a:r>
              <a:rPr lang="en-US" i="1" dirty="0" err="1"/>
              <a:t>Fiabilisation</a:t>
            </a:r>
            <a:r>
              <a:rPr lang="en-US" i="1" dirty="0"/>
              <a:t> des </a:t>
            </a:r>
            <a:r>
              <a:rPr lang="en-US" i="1" dirty="0" err="1"/>
              <a:t>probabilités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2F290-EEBD-1CA8-8691-20ECEE2C09F0}"/>
              </a:ext>
            </a:extLst>
          </p:cNvPr>
          <p:cNvSpPr txBox="1"/>
          <p:nvPr/>
        </p:nvSpPr>
        <p:spPr>
          <a:xfrm>
            <a:off x="1584511" y="3611171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📊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E76833-B8D3-CB26-4D4D-552CE5128168}"/>
              </a:ext>
            </a:extLst>
          </p:cNvPr>
          <p:cNvSpPr txBox="1"/>
          <p:nvPr/>
        </p:nvSpPr>
        <p:spPr>
          <a:xfrm>
            <a:off x="8686800" y="3953435"/>
            <a:ext cx="2552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 err="1"/>
              <a:t>Isotonique</a:t>
            </a:r>
            <a:r>
              <a:rPr lang="en-US" dirty="0"/>
              <a:t>: </a:t>
            </a:r>
            <a:r>
              <a:rPr lang="en-US" altLang="en-US" dirty="0" err="1">
                <a:latin typeface="Arial" panose="020B0604020202020204" pitchFamily="34" charset="0"/>
              </a:rPr>
              <a:t>Même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ordre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0943C14-34C0-605D-999C-7A68FCD1886A}"/>
                  </a:ext>
                </a:extLst>
              </p14:cNvPr>
              <p14:cNvContentPartPr/>
              <p14:nvPr/>
            </p14:nvContentPartPr>
            <p14:xfrm>
              <a:off x="6908400" y="5325496"/>
              <a:ext cx="1995480" cy="752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0943C14-34C0-605D-999C-7A68FCD188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9760" y="5316856"/>
                <a:ext cx="2013120" cy="7704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loud 3">
            <a:extLst>
              <a:ext uri="{FF2B5EF4-FFF2-40B4-BE49-F238E27FC236}">
                <a16:creationId xmlns:a16="http://schemas.microsoft.com/office/drawing/2014/main" id="{99D7AB42-B115-C904-D212-351D2BBB4BAA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C4D94-3B5F-BC48-FD3A-587EEADC82B9}"/>
              </a:ext>
            </a:extLst>
          </p:cNvPr>
          <p:cNvSpPr txBox="1"/>
          <p:nvPr/>
        </p:nvSpPr>
        <p:spPr>
          <a:xfrm>
            <a:off x="11644828" y="628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8" name="Picture 2" descr="🌐">
            <a:extLst>
              <a:ext uri="{FF2B5EF4-FFF2-40B4-BE49-F238E27FC236}">
                <a16:creationId xmlns:a16="http://schemas.microsoft.com/office/drawing/2014/main" id="{E0BA1B2B-A5A6-CDC7-E83F-C736F0D4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8E5461-8621-A3EE-2515-E38FE69A7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4EE477-167A-2D66-6926-DF1C7F81309E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2549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6AAB8-01CD-E62F-7D4D-702FCFBA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F165-4FF4-2E17-99FA-263434E8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89172" y="118819"/>
            <a:ext cx="12475270" cy="995363"/>
          </a:xfrm>
        </p:spPr>
        <p:txBody>
          <a:bodyPr>
            <a:normAutofit/>
          </a:bodyPr>
          <a:lstStyle/>
          <a:p>
            <a:r>
              <a:rPr lang="en-US" b="1" dirty="0"/>
              <a:t>Pipeline technique - </a:t>
            </a:r>
            <a:r>
              <a:rPr lang="en-US" sz="4400" dirty="0" err="1"/>
              <a:t>Évaluation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EAA97-0889-0A0C-330E-98D485CDF373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8A2A44-1C20-F49B-FCB9-DE17A45A0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5339962"/>
            <a:ext cx="5187266" cy="15180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ABE19FB-FC46-BF8A-9B98-5A40E8E8AA71}"/>
                  </a:ext>
                </a:extLst>
              </p14:cNvPr>
              <p14:cNvContentPartPr/>
              <p14:nvPr/>
            </p14:nvContentPartPr>
            <p14:xfrm>
              <a:off x="5733000" y="6065656"/>
              <a:ext cx="930960" cy="744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ABE19FB-FC46-BF8A-9B98-5A40E8E8AA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24000" y="6056656"/>
                <a:ext cx="948600" cy="7621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C83F2FB-A609-811A-D812-8F68FFCBD3B0}"/>
              </a:ext>
            </a:extLst>
          </p:cNvPr>
          <p:cNvSpPr txBox="1"/>
          <p:nvPr/>
        </p:nvSpPr>
        <p:spPr>
          <a:xfrm>
            <a:off x="1039094" y="1704074"/>
            <a:ext cx="29225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2</a:t>
            </a:r>
            <a:r>
              <a:rPr lang="en-US" sz="2400" b="1" dirty="0"/>
              <a:t> </a:t>
            </a:r>
            <a:r>
              <a:rPr lang="en-US" sz="2400" b="1" dirty="0" err="1"/>
              <a:t>métriques</a:t>
            </a:r>
            <a:r>
              <a:rPr lang="en-US" sz="2400" b="1" dirty="0"/>
              <a:t> </a:t>
            </a:r>
            <a:r>
              <a:rPr lang="en-US" sz="2400" b="1" dirty="0" err="1"/>
              <a:t>choisies</a:t>
            </a:r>
            <a:endParaRPr 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A35C46-E418-70B1-284A-78A2F8043A51}"/>
              </a:ext>
            </a:extLst>
          </p:cNvPr>
          <p:cNvSpPr txBox="1"/>
          <p:nvPr/>
        </p:nvSpPr>
        <p:spPr>
          <a:xfrm>
            <a:off x="3138588" y="2684880"/>
            <a:ext cx="783017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Gain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891645-CD39-EAEE-CD2F-4AA6A041BBA9}"/>
              </a:ext>
            </a:extLst>
          </p:cNvPr>
          <p:cNvSpPr txBox="1"/>
          <p:nvPr/>
        </p:nvSpPr>
        <p:spPr>
          <a:xfrm>
            <a:off x="6663960" y="1704074"/>
            <a:ext cx="4613764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1</a:t>
            </a:r>
            <a:r>
              <a:rPr lang="en-US" sz="2400" b="1" dirty="0"/>
              <a:t> </a:t>
            </a:r>
            <a:r>
              <a:rPr lang="en-US" sz="2400" b="1" dirty="0" err="1"/>
              <a:t>Fonction</a:t>
            </a:r>
            <a:r>
              <a:rPr lang="en-US" sz="2400" b="1" dirty="0"/>
              <a:t> Coût/Objectif</a:t>
            </a:r>
          </a:p>
          <a:p>
            <a:r>
              <a:rPr lang="en-US" dirty="0"/>
              <a:t>	</a:t>
            </a:r>
            <a:r>
              <a:rPr lang="en-US" dirty="0" err="1"/>
              <a:t>logloss</a:t>
            </a:r>
            <a:r>
              <a:rPr lang="en-US" dirty="0"/>
              <a:t> (</a:t>
            </a:r>
            <a:r>
              <a:rPr lang="en-US" dirty="0" err="1"/>
              <a:t>perte</a:t>
            </a:r>
            <a:r>
              <a:rPr lang="en-US" dirty="0"/>
              <a:t> </a:t>
            </a:r>
            <a:r>
              <a:rPr lang="en-US" dirty="0" err="1"/>
              <a:t>logarithmique</a:t>
            </a:r>
            <a:r>
              <a:rPr lang="en-US" dirty="0"/>
              <a:t>), donnée par: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6FFBF6-E4CA-420D-EA50-85E645367D6C}"/>
              </a:ext>
            </a:extLst>
          </p:cNvPr>
          <p:cNvSpPr txBox="1"/>
          <p:nvPr/>
        </p:nvSpPr>
        <p:spPr>
          <a:xfrm>
            <a:off x="7327090" y="4311269"/>
            <a:ext cx="84426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Thetha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4A21E9-A9C5-C246-246C-FDCC2D04198C}"/>
              </a:ext>
            </a:extLst>
          </p:cNvPr>
          <p:cNvSpPr txBox="1"/>
          <p:nvPr/>
        </p:nvSpPr>
        <p:spPr>
          <a:xfrm>
            <a:off x="914276" y="2684880"/>
            <a:ext cx="844261" cy="369332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B651B29-40DC-3B01-AF62-74AF48D78DC8}"/>
                  </a:ext>
                </a:extLst>
              </p:cNvPr>
              <p:cNvSpPr txBox="1"/>
              <p:nvPr/>
            </p:nvSpPr>
            <p:spPr>
              <a:xfrm>
                <a:off x="2664348" y="3185198"/>
                <a:ext cx="2058897" cy="4093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+30−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B651B29-40DC-3B01-AF62-74AF48D78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348" y="3185198"/>
                <a:ext cx="2058897" cy="409343"/>
              </a:xfrm>
              <a:prstGeom prst="rect">
                <a:avLst/>
              </a:prstGeom>
              <a:blipFill>
                <a:blip r:embed="rId5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17CEB99-07C2-6316-5761-C299F7A20F24}"/>
                  </a:ext>
                </a:extLst>
              </p:cNvPr>
              <p:cNvSpPr txBox="1"/>
              <p:nvPr/>
            </p:nvSpPr>
            <p:spPr>
              <a:xfrm>
                <a:off x="663878" y="3100314"/>
                <a:ext cx="1094659" cy="646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17CEB99-07C2-6316-5761-C299F7A20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78" y="3100314"/>
                <a:ext cx="1094659" cy="646459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80678A35-85A4-A86A-29AE-C167F666733F}"/>
              </a:ext>
            </a:extLst>
          </p:cNvPr>
          <p:cNvSpPr txBox="1"/>
          <p:nvPr/>
        </p:nvSpPr>
        <p:spPr>
          <a:xfrm>
            <a:off x="2527370" y="4614967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Barrière de decision: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D3C21E-A935-5F2E-316B-7C5B8C191629}"/>
                  </a:ext>
                </a:extLst>
              </p:cNvPr>
              <p:cNvSpPr txBox="1"/>
              <p:nvPr/>
            </p:nvSpPr>
            <p:spPr>
              <a:xfrm>
                <a:off x="4771600" y="4604576"/>
                <a:ext cx="2328330" cy="4093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𝑚𝑖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D3C21E-A935-5F2E-316B-7C5B8C191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600" y="4604576"/>
                <a:ext cx="2328330" cy="409343"/>
              </a:xfrm>
              <a:prstGeom prst="rect">
                <a:avLst/>
              </a:prstGeom>
              <a:blipFill>
                <a:blip r:embed="rId7"/>
                <a:stretch>
                  <a:fillRect t="-303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BD26BC02-40A6-DD79-3AE0-63BFC60F0AC8}"/>
              </a:ext>
            </a:extLst>
          </p:cNvPr>
          <p:cNvCxnSpPr/>
          <p:nvPr/>
        </p:nvCxnSpPr>
        <p:spPr>
          <a:xfrm rot="10800000" flipV="1">
            <a:off x="6899565" y="4495935"/>
            <a:ext cx="353291" cy="184666"/>
          </a:xfrm>
          <a:prstGeom prst="curvedConnector3">
            <a:avLst>
              <a:gd name="adj1" fmla="val 794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3717D0B-6603-D54A-7365-A86927055292}"/>
              </a:ext>
            </a:extLst>
          </p:cNvPr>
          <p:cNvSpPr txBox="1"/>
          <p:nvPr/>
        </p:nvSpPr>
        <p:spPr>
          <a:xfrm>
            <a:off x="6198480" y="1906911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🧿</a:t>
            </a:r>
            <a:endParaRPr lang="en-US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7FAC7599-EDF5-40A0-AA3A-D508019FDA98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0CA2B-D5D3-DEF2-084F-2696E2040B55}"/>
              </a:ext>
            </a:extLst>
          </p:cNvPr>
          <p:cNvSpPr txBox="1"/>
          <p:nvPr/>
        </p:nvSpPr>
        <p:spPr>
          <a:xfrm>
            <a:off x="11644828" y="628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6" name="Picture 2" descr="🌐">
            <a:extLst>
              <a:ext uri="{FF2B5EF4-FFF2-40B4-BE49-F238E27FC236}">
                <a16:creationId xmlns:a16="http://schemas.microsoft.com/office/drawing/2014/main" id="{D1DD01BC-116E-E681-1F76-7569AD01F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204941-F0F8-7779-134B-7907640136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6DFF1F-3630-57DB-3112-C0E634CF7D09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37022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C31BF-85EA-583C-4139-ED568604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89B9-C31E-BF31-85F9-7356244BF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14291" y="377605"/>
            <a:ext cx="9144000" cy="935575"/>
          </a:xfrm>
        </p:spPr>
        <p:txBody>
          <a:bodyPr>
            <a:normAutofit/>
          </a:bodyPr>
          <a:lstStyle/>
          <a:p>
            <a:r>
              <a:rPr lang="en-US" b="1" dirty="0"/>
              <a:t>Plan de la </a:t>
            </a:r>
            <a:r>
              <a:rPr lang="en-US" b="1" dirty="0" err="1"/>
              <a:t>présentation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4FDA2A-2C6E-981B-C90A-0C52382B05E5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3E869729-DA29-0994-DFDC-D0C02787E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134" y="-1282579"/>
            <a:ext cx="4642338" cy="293663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Le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A764B49F-FEF4-6FE9-005B-D0E1D3A3ADE3}"/>
              </a:ext>
            </a:extLst>
          </p:cNvPr>
          <p:cNvSpPr/>
          <p:nvPr/>
        </p:nvSpPr>
        <p:spPr>
          <a:xfrm rot="14992246">
            <a:off x="6298863" y="-1329399"/>
            <a:ext cx="500372" cy="9032921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Donut 12">
            <a:extLst>
              <a:ext uri="{FF2B5EF4-FFF2-40B4-BE49-F238E27FC236}">
                <a16:creationId xmlns:a16="http://schemas.microsoft.com/office/drawing/2014/main" id="{8C078094-BF37-3148-6572-3E385EBBA274}"/>
              </a:ext>
            </a:extLst>
          </p:cNvPr>
          <p:cNvSpPr/>
          <p:nvPr/>
        </p:nvSpPr>
        <p:spPr>
          <a:xfrm>
            <a:off x="2222361" y="449110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8BFBF12B-224F-AE67-1E71-8C7AC4E0A0B9}"/>
              </a:ext>
            </a:extLst>
          </p:cNvPr>
          <p:cNvSpPr/>
          <p:nvPr/>
        </p:nvSpPr>
        <p:spPr>
          <a:xfrm>
            <a:off x="8625122" y="214933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5" name="Donut 14">
            <a:extLst>
              <a:ext uri="{FF2B5EF4-FFF2-40B4-BE49-F238E27FC236}">
                <a16:creationId xmlns:a16="http://schemas.microsoft.com/office/drawing/2014/main" id="{303D0B9B-A6D0-D4E6-1D8B-B9F86426E304}"/>
              </a:ext>
            </a:extLst>
          </p:cNvPr>
          <p:cNvSpPr/>
          <p:nvPr/>
        </p:nvSpPr>
        <p:spPr>
          <a:xfrm>
            <a:off x="6549049" y="2902141"/>
            <a:ext cx="392888" cy="427400"/>
          </a:xfrm>
          <a:prstGeom prst="donut">
            <a:avLst/>
          </a:prstGeom>
          <a:solidFill>
            <a:schemeClr val="bg1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Donut 15">
            <a:extLst>
              <a:ext uri="{FF2B5EF4-FFF2-40B4-BE49-F238E27FC236}">
                <a16:creationId xmlns:a16="http://schemas.microsoft.com/office/drawing/2014/main" id="{2E427BCC-AC76-A836-F9F6-54B07A09579A}"/>
              </a:ext>
            </a:extLst>
          </p:cNvPr>
          <p:cNvSpPr/>
          <p:nvPr/>
        </p:nvSpPr>
        <p:spPr>
          <a:xfrm>
            <a:off x="4424863" y="368215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7" name="Donut 16">
            <a:extLst>
              <a:ext uri="{FF2B5EF4-FFF2-40B4-BE49-F238E27FC236}">
                <a16:creationId xmlns:a16="http://schemas.microsoft.com/office/drawing/2014/main" id="{0FEC3505-E888-8303-5FA9-1418AED89E72}"/>
              </a:ext>
            </a:extLst>
          </p:cNvPr>
          <p:cNvSpPr/>
          <p:nvPr/>
        </p:nvSpPr>
        <p:spPr>
          <a:xfrm>
            <a:off x="9973924" y="165405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7FC06EE6-837B-FEE5-2BEB-B49A5CC8AB74}"/>
              </a:ext>
            </a:extLst>
          </p:cNvPr>
          <p:cNvSpPr/>
          <p:nvPr/>
        </p:nvSpPr>
        <p:spPr>
          <a:xfrm>
            <a:off x="3278237" y="4104280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A50E25-D3CD-B0CD-41B1-BD877EB03889}"/>
              </a:ext>
            </a:extLst>
          </p:cNvPr>
          <p:cNvSpPr txBox="1"/>
          <p:nvPr/>
        </p:nvSpPr>
        <p:spPr>
          <a:xfrm>
            <a:off x="1635127" y="5229784"/>
            <a:ext cx="15673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Problèmatique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7D3C06-6639-3C52-8E90-AA566ADCCA1C}"/>
              </a:ext>
            </a:extLst>
          </p:cNvPr>
          <p:cNvSpPr txBox="1"/>
          <p:nvPr/>
        </p:nvSpPr>
        <p:spPr>
          <a:xfrm>
            <a:off x="2863764" y="4848235"/>
            <a:ext cx="267900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Analyse</a:t>
            </a:r>
            <a:r>
              <a:rPr lang="en-US" sz="1800" dirty="0"/>
              <a:t> des données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128309-1E7E-F33E-37D5-CB48A82B12B2}"/>
              </a:ext>
            </a:extLst>
          </p:cNvPr>
          <p:cNvSpPr txBox="1"/>
          <p:nvPr/>
        </p:nvSpPr>
        <p:spPr>
          <a:xfrm>
            <a:off x="4150068" y="4478903"/>
            <a:ext cx="1945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sz="1800" dirty="0"/>
              <a:t>ipeline technique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2A16D0-87A9-4C85-507A-DBEBE552D4A6}"/>
              </a:ext>
            </a:extLst>
          </p:cNvPr>
          <p:cNvSpPr txBox="1"/>
          <p:nvPr/>
        </p:nvSpPr>
        <p:spPr>
          <a:xfrm>
            <a:off x="6054437" y="3617479"/>
            <a:ext cx="263962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Démonstration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en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direct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7747CC-0A62-2802-9ABE-D4A3BF699ACD}"/>
              </a:ext>
            </a:extLst>
          </p:cNvPr>
          <p:cNvSpPr txBox="1"/>
          <p:nvPr/>
        </p:nvSpPr>
        <p:spPr>
          <a:xfrm>
            <a:off x="8363211" y="2972702"/>
            <a:ext cx="1030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Résultats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167AB7-1F51-E65B-7AC5-5F6856807D60}"/>
              </a:ext>
            </a:extLst>
          </p:cNvPr>
          <p:cNvSpPr txBox="1"/>
          <p:nvPr/>
        </p:nvSpPr>
        <p:spPr>
          <a:xfrm>
            <a:off x="9539820" y="2511656"/>
            <a:ext cx="1814861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RSE &amp; conclusion</a:t>
            </a:r>
          </a:p>
        </p:txBody>
      </p:sp>
      <p:sp>
        <p:nvSpPr>
          <p:cNvPr id="33" name="Extract 32">
            <a:extLst>
              <a:ext uri="{FF2B5EF4-FFF2-40B4-BE49-F238E27FC236}">
                <a16:creationId xmlns:a16="http://schemas.microsoft.com/office/drawing/2014/main" id="{39E85735-9057-A30A-7F1A-3B174962E161}"/>
              </a:ext>
            </a:extLst>
          </p:cNvPr>
          <p:cNvSpPr/>
          <p:nvPr/>
        </p:nvSpPr>
        <p:spPr>
          <a:xfrm>
            <a:off x="2310532" y="4976256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xtract 33">
            <a:extLst>
              <a:ext uri="{FF2B5EF4-FFF2-40B4-BE49-F238E27FC236}">
                <a16:creationId xmlns:a16="http://schemas.microsoft.com/office/drawing/2014/main" id="{77C4E777-71A0-E33D-247D-AEB573ECEBD4}"/>
              </a:ext>
            </a:extLst>
          </p:cNvPr>
          <p:cNvSpPr/>
          <p:nvPr/>
        </p:nvSpPr>
        <p:spPr>
          <a:xfrm>
            <a:off x="3397371" y="4600863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xtract 34">
            <a:extLst>
              <a:ext uri="{FF2B5EF4-FFF2-40B4-BE49-F238E27FC236}">
                <a16:creationId xmlns:a16="http://schemas.microsoft.com/office/drawing/2014/main" id="{7CF6F1AB-C593-A7E2-5223-B837E3E23E24}"/>
              </a:ext>
            </a:extLst>
          </p:cNvPr>
          <p:cNvSpPr/>
          <p:nvPr/>
        </p:nvSpPr>
        <p:spPr>
          <a:xfrm>
            <a:off x="4533730" y="4186152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xtract 35">
            <a:extLst>
              <a:ext uri="{FF2B5EF4-FFF2-40B4-BE49-F238E27FC236}">
                <a16:creationId xmlns:a16="http://schemas.microsoft.com/office/drawing/2014/main" id="{854B3832-4DE3-11F4-ED27-1527DAF1DE0D}"/>
              </a:ext>
            </a:extLst>
          </p:cNvPr>
          <p:cNvSpPr/>
          <p:nvPr/>
        </p:nvSpPr>
        <p:spPr>
          <a:xfrm>
            <a:off x="6657916" y="3413238"/>
            <a:ext cx="175153" cy="323795"/>
          </a:xfrm>
          <a:prstGeom prst="flowChartExtra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xtract 36">
            <a:extLst>
              <a:ext uri="{FF2B5EF4-FFF2-40B4-BE49-F238E27FC236}">
                <a16:creationId xmlns:a16="http://schemas.microsoft.com/office/drawing/2014/main" id="{62A4B59B-F96D-9F21-F6EC-42D0DDD31D72}"/>
              </a:ext>
            </a:extLst>
          </p:cNvPr>
          <p:cNvSpPr/>
          <p:nvPr/>
        </p:nvSpPr>
        <p:spPr>
          <a:xfrm>
            <a:off x="8733989" y="2670544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xtract 37">
            <a:extLst>
              <a:ext uri="{FF2B5EF4-FFF2-40B4-BE49-F238E27FC236}">
                <a16:creationId xmlns:a16="http://schemas.microsoft.com/office/drawing/2014/main" id="{A3589363-5FB7-17C9-8A49-84272D564589}"/>
              </a:ext>
            </a:extLst>
          </p:cNvPr>
          <p:cNvSpPr/>
          <p:nvPr/>
        </p:nvSpPr>
        <p:spPr>
          <a:xfrm>
            <a:off x="10082791" y="2187861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5932A9B-DB23-B6FD-6AEA-601DEA0D0625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2290E-C1A8-A2ED-E878-6C3524D5E2CA}"/>
              </a:ext>
            </a:extLst>
          </p:cNvPr>
          <p:cNvSpPr txBox="1"/>
          <p:nvPr/>
        </p:nvSpPr>
        <p:spPr>
          <a:xfrm>
            <a:off x="11579333" y="628094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6" name="Picture 2" descr="🌐">
            <a:extLst>
              <a:ext uri="{FF2B5EF4-FFF2-40B4-BE49-F238E27FC236}">
                <a16:creationId xmlns:a16="http://schemas.microsoft.com/office/drawing/2014/main" id="{4169AE13-3FB7-CB80-C6DD-0F9E9DBEC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C719FC-E0BA-852A-3432-1769384AB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9269D2-3748-AEC9-224C-42C66A203B05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380206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CE93-E3D1-6BD5-B67B-5CA735FE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29191-8DBE-C2BE-E655-0DADC4FA7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291" y="1339165"/>
            <a:ext cx="9144000" cy="995363"/>
          </a:xfrm>
        </p:spPr>
        <p:txBody>
          <a:bodyPr>
            <a:normAutofit/>
          </a:bodyPr>
          <a:lstStyle/>
          <a:p>
            <a:r>
              <a:rPr lang="en-US" b="1" dirty="0" err="1"/>
              <a:t>Démonstration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direct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1C8740-0D8B-851B-6963-3DEC5D630DB8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8F91E-9C64-8315-86E1-F0B468EC51C2}"/>
              </a:ext>
            </a:extLst>
          </p:cNvPr>
          <p:cNvSpPr txBox="1"/>
          <p:nvPr/>
        </p:nvSpPr>
        <p:spPr>
          <a:xfrm>
            <a:off x="2176337" y="3597593"/>
            <a:ext cx="3919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https://</a:t>
            </a:r>
            <a:r>
              <a:rPr lang="en-US" sz="2400" dirty="0" err="1"/>
              <a:t>allclear.mehdi.website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A503A7-2705-2B44-B0F0-BBBF6F0B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07" y="2658922"/>
            <a:ext cx="2336096" cy="2339009"/>
          </a:xfrm>
          <a:prstGeom prst="rect">
            <a:avLst/>
          </a:prstGeom>
        </p:spPr>
      </p:pic>
      <p:sp>
        <p:nvSpPr>
          <p:cNvPr id="15" name="Cloud 14">
            <a:extLst>
              <a:ext uri="{FF2B5EF4-FFF2-40B4-BE49-F238E27FC236}">
                <a16:creationId xmlns:a16="http://schemas.microsoft.com/office/drawing/2014/main" id="{F90EFF67-6830-0550-237F-8616C19991FA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35BB6E-C154-3032-B948-F706D6E991AF}"/>
              </a:ext>
            </a:extLst>
          </p:cNvPr>
          <p:cNvSpPr txBox="1"/>
          <p:nvPr/>
        </p:nvSpPr>
        <p:spPr>
          <a:xfrm>
            <a:off x="11574734" y="6286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17" name="Picture 2" descr="🌐">
            <a:extLst>
              <a:ext uri="{FF2B5EF4-FFF2-40B4-BE49-F238E27FC236}">
                <a16:creationId xmlns:a16="http://schemas.microsoft.com/office/drawing/2014/main" id="{4C64E25D-4524-CDEF-93F9-D40870E35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053F6C-5BD9-CA43-31A1-34A8A087C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767FAFD-A43A-CEF1-B2B7-9A42168C56C1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3586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EB69E-5B19-FCAC-032E-BA7B4965C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4E7-2677-9A42-D6E1-DD55D40E2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14291" y="377605"/>
            <a:ext cx="9144000" cy="935575"/>
          </a:xfrm>
        </p:spPr>
        <p:txBody>
          <a:bodyPr>
            <a:normAutofit/>
          </a:bodyPr>
          <a:lstStyle/>
          <a:p>
            <a:r>
              <a:rPr lang="en-US" b="1" dirty="0"/>
              <a:t>Plan de la </a:t>
            </a:r>
            <a:r>
              <a:rPr lang="en-US" b="1" dirty="0" err="1"/>
              <a:t>présentation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AF607-2A75-BC6E-E965-F904296A8728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96A4F08-499C-F34A-7A39-67255AF88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134" y="-1282579"/>
            <a:ext cx="4642338" cy="293663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Le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7A615CF9-3333-1524-5B8B-AD395F544EAF}"/>
              </a:ext>
            </a:extLst>
          </p:cNvPr>
          <p:cNvSpPr/>
          <p:nvPr/>
        </p:nvSpPr>
        <p:spPr>
          <a:xfrm rot="14992246">
            <a:off x="6298863" y="-1329399"/>
            <a:ext cx="500372" cy="9032921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Donut 12">
            <a:extLst>
              <a:ext uri="{FF2B5EF4-FFF2-40B4-BE49-F238E27FC236}">
                <a16:creationId xmlns:a16="http://schemas.microsoft.com/office/drawing/2014/main" id="{AA24E5BF-196A-ACC6-CE42-FCF534C9928D}"/>
              </a:ext>
            </a:extLst>
          </p:cNvPr>
          <p:cNvSpPr/>
          <p:nvPr/>
        </p:nvSpPr>
        <p:spPr>
          <a:xfrm>
            <a:off x="2222361" y="449110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EAD2E646-4DBD-AC35-C703-E5FC911BB1B3}"/>
              </a:ext>
            </a:extLst>
          </p:cNvPr>
          <p:cNvSpPr/>
          <p:nvPr/>
        </p:nvSpPr>
        <p:spPr>
          <a:xfrm>
            <a:off x="8625122" y="2149333"/>
            <a:ext cx="392888" cy="427400"/>
          </a:xfrm>
          <a:prstGeom prst="donut">
            <a:avLst/>
          </a:prstGeom>
          <a:solidFill>
            <a:schemeClr val="bg1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5" name="Donut 14">
            <a:extLst>
              <a:ext uri="{FF2B5EF4-FFF2-40B4-BE49-F238E27FC236}">
                <a16:creationId xmlns:a16="http://schemas.microsoft.com/office/drawing/2014/main" id="{FBCA07F1-0D27-E4D6-9F25-A827E699475F}"/>
              </a:ext>
            </a:extLst>
          </p:cNvPr>
          <p:cNvSpPr/>
          <p:nvPr/>
        </p:nvSpPr>
        <p:spPr>
          <a:xfrm>
            <a:off x="6549049" y="2902141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Donut 15">
            <a:extLst>
              <a:ext uri="{FF2B5EF4-FFF2-40B4-BE49-F238E27FC236}">
                <a16:creationId xmlns:a16="http://schemas.microsoft.com/office/drawing/2014/main" id="{195D1ACF-1F17-7809-0E3A-89D9E8A7B820}"/>
              </a:ext>
            </a:extLst>
          </p:cNvPr>
          <p:cNvSpPr/>
          <p:nvPr/>
        </p:nvSpPr>
        <p:spPr>
          <a:xfrm>
            <a:off x="4424863" y="368215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7" name="Donut 16">
            <a:extLst>
              <a:ext uri="{FF2B5EF4-FFF2-40B4-BE49-F238E27FC236}">
                <a16:creationId xmlns:a16="http://schemas.microsoft.com/office/drawing/2014/main" id="{83898AF6-B1E9-254F-66D8-C300A2779A49}"/>
              </a:ext>
            </a:extLst>
          </p:cNvPr>
          <p:cNvSpPr/>
          <p:nvPr/>
        </p:nvSpPr>
        <p:spPr>
          <a:xfrm>
            <a:off x="9973924" y="165405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9F8242F0-66B6-D3C6-FE09-E2A18C476189}"/>
              </a:ext>
            </a:extLst>
          </p:cNvPr>
          <p:cNvSpPr/>
          <p:nvPr/>
        </p:nvSpPr>
        <p:spPr>
          <a:xfrm>
            <a:off x="3278237" y="4104280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820EC4-EBF9-2F93-95AF-B292C08CFE04}"/>
              </a:ext>
            </a:extLst>
          </p:cNvPr>
          <p:cNvSpPr txBox="1"/>
          <p:nvPr/>
        </p:nvSpPr>
        <p:spPr>
          <a:xfrm>
            <a:off x="1635127" y="5229784"/>
            <a:ext cx="15673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Problèmatique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C96FF8-185E-31CC-25AA-4FA1F2D8A8AA}"/>
              </a:ext>
            </a:extLst>
          </p:cNvPr>
          <p:cNvSpPr txBox="1"/>
          <p:nvPr/>
        </p:nvSpPr>
        <p:spPr>
          <a:xfrm>
            <a:off x="2863764" y="4848235"/>
            <a:ext cx="267900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Analyse</a:t>
            </a:r>
            <a:r>
              <a:rPr lang="en-US" sz="1800" dirty="0"/>
              <a:t> des données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4529E4-D9B8-649D-C4D8-BEEB135A67FB}"/>
              </a:ext>
            </a:extLst>
          </p:cNvPr>
          <p:cNvSpPr txBox="1"/>
          <p:nvPr/>
        </p:nvSpPr>
        <p:spPr>
          <a:xfrm>
            <a:off x="4150068" y="4478903"/>
            <a:ext cx="1945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sz="1800" dirty="0"/>
              <a:t>ipeline technique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4D7DF8-5FD2-9BC8-D1B1-6331587A0191}"/>
              </a:ext>
            </a:extLst>
          </p:cNvPr>
          <p:cNvSpPr txBox="1"/>
          <p:nvPr/>
        </p:nvSpPr>
        <p:spPr>
          <a:xfrm>
            <a:off x="6054437" y="3617479"/>
            <a:ext cx="263962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Démonstration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direct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3760D1-7527-6D83-223F-08322D2FC6A0}"/>
              </a:ext>
            </a:extLst>
          </p:cNvPr>
          <p:cNvSpPr txBox="1"/>
          <p:nvPr/>
        </p:nvSpPr>
        <p:spPr>
          <a:xfrm>
            <a:off x="8363211" y="2972702"/>
            <a:ext cx="1030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Résultats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94E1DF-BD5A-F4F5-0914-EDB779F72803}"/>
              </a:ext>
            </a:extLst>
          </p:cNvPr>
          <p:cNvSpPr txBox="1"/>
          <p:nvPr/>
        </p:nvSpPr>
        <p:spPr>
          <a:xfrm>
            <a:off x="9539820" y="2511656"/>
            <a:ext cx="1814861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RSE &amp; conclusion</a:t>
            </a:r>
          </a:p>
        </p:txBody>
      </p:sp>
      <p:sp>
        <p:nvSpPr>
          <p:cNvPr id="33" name="Extract 32">
            <a:extLst>
              <a:ext uri="{FF2B5EF4-FFF2-40B4-BE49-F238E27FC236}">
                <a16:creationId xmlns:a16="http://schemas.microsoft.com/office/drawing/2014/main" id="{0B7E0C0F-8D68-2C52-B919-8B1ECED8227D}"/>
              </a:ext>
            </a:extLst>
          </p:cNvPr>
          <p:cNvSpPr/>
          <p:nvPr/>
        </p:nvSpPr>
        <p:spPr>
          <a:xfrm>
            <a:off x="2310532" y="4976256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xtract 33">
            <a:extLst>
              <a:ext uri="{FF2B5EF4-FFF2-40B4-BE49-F238E27FC236}">
                <a16:creationId xmlns:a16="http://schemas.microsoft.com/office/drawing/2014/main" id="{838D34F5-5760-8719-981C-EE99955C0FFA}"/>
              </a:ext>
            </a:extLst>
          </p:cNvPr>
          <p:cNvSpPr/>
          <p:nvPr/>
        </p:nvSpPr>
        <p:spPr>
          <a:xfrm>
            <a:off x="3397371" y="4600863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xtract 34">
            <a:extLst>
              <a:ext uri="{FF2B5EF4-FFF2-40B4-BE49-F238E27FC236}">
                <a16:creationId xmlns:a16="http://schemas.microsoft.com/office/drawing/2014/main" id="{82D93F36-385E-C484-2493-0E3A838B1056}"/>
              </a:ext>
            </a:extLst>
          </p:cNvPr>
          <p:cNvSpPr/>
          <p:nvPr/>
        </p:nvSpPr>
        <p:spPr>
          <a:xfrm>
            <a:off x="4533730" y="4186152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xtract 35">
            <a:extLst>
              <a:ext uri="{FF2B5EF4-FFF2-40B4-BE49-F238E27FC236}">
                <a16:creationId xmlns:a16="http://schemas.microsoft.com/office/drawing/2014/main" id="{50F6B3FD-45FD-72CF-521A-94CE031A89E1}"/>
              </a:ext>
            </a:extLst>
          </p:cNvPr>
          <p:cNvSpPr/>
          <p:nvPr/>
        </p:nvSpPr>
        <p:spPr>
          <a:xfrm>
            <a:off x="6657916" y="3413238"/>
            <a:ext cx="175153" cy="323795"/>
          </a:xfrm>
          <a:prstGeom prst="flowChartExtra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xtract 36">
            <a:extLst>
              <a:ext uri="{FF2B5EF4-FFF2-40B4-BE49-F238E27FC236}">
                <a16:creationId xmlns:a16="http://schemas.microsoft.com/office/drawing/2014/main" id="{49EE14A8-F55C-A1E0-4791-8AA63C03AD4D}"/>
              </a:ext>
            </a:extLst>
          </p:cNvPr>
          <p:cNvSpPr/>
          <p:nvPr/>
        </p:nvSpPr>
        <p:spPr>
          <a:xfrm>
            <a:off x="8733989" y="2670544"/>
            <a:ext cx="175153" cy="323795"/>
          </a:xfrm>
          <a:prstGeom prst="flowChartExtra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xtract 37">
            <a:extLst>
              <a:ext uri="{FF2B5EF4-FFF2-40B4-BE49-F238E27FC236}">
                <a16:creationId xmlns:a16="http://schemas.microsoft.com/office/drawing/2014/main" id="{9FD6765B-6393-D4FD-03BE-BAC7F829C19B}"/>
              </a:ext>
            </a:extLst>
          </p:cNvPr>
          <p:cNvSpPr/>
          <p:nvPr/>
        </p:nvSpPr>
        <p:spPr>
          <a:xfrm>
            <a:off x="10082791" y="2187861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CCA75CE8-F6B0-CFBB-382C-5C140757C917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495F4-089F-FBA4-A98C-0B8CD030DC42}"/>
              </a:ext>
            </a:extLst>
          </p:cNvPr>
          <p:cNvSpPr txBox="1"/>
          <p:nvPr/>
        </p:nvSpPr>
        <p:spPr>
          <a:xfrm>
            <a:off x="11579333" y="62712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12</a:t>
            </a:r>
          </a:p>
        </p:txBody>
      </p:sp>
      <p:pic>
        <p:nvPicPr>
          <p:cNvPr id="6" name="Picture 2" descr="🌐">
            <a:extLst>
              <a:ext uri="{FF2B5EF4-FFF2-40B4-BE49-F238E27FC236}">
                <a16:creationId xmlns:a16="http://schemas.microsoft.com/office/drawing/2014/main" id="{E87DA321-E0CF-B5D7-3BE3-9CC564C83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E88258-887D-2576-F200-36BCE10BC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824EE4-F594-16E4-6551-E3439477A4E1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77798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6964A-DCC6-0C34-E556-AB5691B0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7DC3F-BC7E-36F5-198F-A285FCC6B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84138" y="152539"/>
            <a:ext cx="9144000" cy="995363"/>
          </a:xfrm>
        </p:spPr>
        <p:txBody>
          <a:bodyPr>
            <a:normAutofit/>
          </a:bodyPr>
          <a:lstStyle/>
          <a:p>
            <a:r>
              <a:rPr lang="en-US" b="1" dirty="0" err="1"/>
              <a:t>Résultats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FC0A60-0852-DE88-ED08-CDE5D1D4073D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B154B4-B658-6CEF-A708-6FC4E0B09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770" y="1147902"/>
            <a:ext cx="6070459" cy="51979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loud 2">
            <a:extLst>
              <a:ext uri="{FF2B5EF4-FFF2-40B4-BE49-F238E27FC236}">
                <a16:creationId xmlns:a16="http://schemas.microsoft.com/office/drawing/2014/main" id="{C8A2F3C0-1FDF-9BDB-D20A-38708D2A99CA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B5865-B02C-6A78-54FD-289F49564FEA}"/>
              </a:ext>
            </a:extLst>
          </p:cNvPr>
          <p:cNvSpPr txBox="1"/>
          <p:nvPr/>
        </p:nvSpPr>
        <p:spPr>
          <a:xfrm>
            <a:off x="11583932" y="626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5" name="Picture 2" descr="🌐">
            <a:extLst>
              <a:ext uri="{FF2B5EF4-FFF2-40B4-BE49-F238E27FC236}">
                <a16:creationId xmlns:a16="http://schemas.microsoft.com/office/drawing/2014/main" id="{31D1B17F-E009-B280-F0AB-280842E65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A9D082-9359-7D19-AA1E-4B8F5B148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F7883F-3EE5-F3E5-E4F3-7CBC93737FFE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4005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02B7-22BF-5BCE-EF01-8F6D0239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98F7-5FAF-A8BB-B24F-4185D1C8E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84138" y="152539"/>
            <a:ext cx="9144000" cy="995363"/>
          </a:xfrm>
        </p:spPr>
        <p:txBody>
          <a:bodyPr>
            <a:normAutofit/>
          </a:bodyPr>
          <a:lstStyle/>
          <a:p>
            <a:r>
              <a:rPr lang="en-US" b="1" dirty="0" err="1"/>
              <a:t>Résultats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2C94CC-15F5-F972-42E4-D5381C16E57E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2D09B5-2E30-1890-2901-695C3F795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775" y="1147902"/>
            <a:ext cx="6040173" cy="51720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loud 2">
            <a:extLst>
              <a:ext uri="{FF2B5EF4-FFF2-40B4-BE49-F238E27FC236}">
                <a16:creationId xmlns:a16="http://schemas.microsoft.com/office/drawing/2014/main" id="{9766D2C4-3CB0-E663-6914-4DFD887CB260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DA065-36BD-FE04-15DF-B0851232B65D}"/>
              </a:ext>
            </a:extLst>
          </p:cNvPr>
          <p:cNvSpPr txBox="1"/>
          <p:nvPr/>
        </p:nvSpPr>
        <p:spPr>
          <a:xfrm>
            <a:off x="11583932" y="6286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5" name="Picture 2" descr="🌐">
            <a:extLst>
              <a:ext uri="{FF2B5EF4-FFF2-40B4-BE49-F238E27FC236}">
                <a16:creationId xmlns:a16="http://schemas.microsoft.com/office/drawing/2014/main" id="{7202B1E5-1DEA-ED9A-F142-92052AFC5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C6EF95-425C-F10B-EC0E-132A036E8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D18A5F-2D7A-85AD-FC1E-1DE2FB313850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828996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F0FF-3A2E-39FA-87B5-9AAAAAF5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15F3-50CD-68E8-6BEB-B5EEE364F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84138" y="152539"/>
            <a:ext cx="9144000" cy="995363"/>
          </a:xfrm>
        </p:spPr>
        <p:txBody>
          <a:bodyPr>
            <a:normAutofit/>
          </a:bodyPr>
          <a:lstStyle/>
          <a:p>
            <a:r>
              <a:rPr lang="en-US" b="1" dirty="0" err="1"/>
              <a:t>Résultats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3E31E6-FD88-4CCE-A64C-413B3636E2A8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2395C1-62E4-7A31-F48D-7DAE81239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371" y="1481240"/>
            <a:ext cx="6763258" cy="48054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loud 2">
            <a:extLst>
              <a:ext uri="{FF2B5EF4-FFF2-40B4-BE49-F238E27FC236}">
                <a16:creationId xmlns:a16="http://schemas.microsoft.com/office/drawing/2014/main" id="{6FA3452C-4C7C-73D5-D120-FCA5175205C5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65354-FF8B-C641-D2C1-C36F372DAA6D}"/>
              </a:ext>
            </a:extLst>
          </p:cNvPr>
          <p:cNvSpPr txBox="1"/>
          <p:nvPr/>
        </p:nvSpPr>
        <p:spPr>
          <a:xfrm>
            <a:off x="11583932" y="62811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pic>
        <p:nvPicPr>
          <p:cNvPr id="5" name="Picture 2" descr="🌐">
            <a:extLst>
              <a:ext uri="{FF2B5EF4-FFF2-40B4-BE49-F238E27FC236}">
                <a16:creationId xmlns:a16="http://schemas.microsoft.com/office/drawing/2014/main" id="{147B588A-405D-0A53-F5FB-B341B86E7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A4136F-74C6-D0D5-FA69-C59C15AD8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A0C30A-9C69-8442-F8D5-74F7D83325C4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77445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9B988-E9A7-F411-DC2A-5D25479A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E26F-23AE-0233-C628-D1A685780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14291" y="377605"/>
            <a:ext cx="9144000" cy="935575"/>
          </a:xfrm>
        </p:spPr>
        <p:txBody>
          <a:bodyPr>
            <a:normAutofit/>
          </a:bodyPr>
          <a:lstStyle/>
          <a:p>
            <a:r>
              <a:rPr lang="en-US" b="1" dirty="0"/>
              <a:t>Plan de la </a:t>
            </a:r>
            <a:r>
              <a:rPr lang="en-US" b="1" dirty="0" err="1"/>
              <a:t>présentation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90BAE-D962-FFF7-8EB2-191C99C511A0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94EFC0B8-B5D0-ED99-25BE-2437817B0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8134" y="-1282579"/>
            <a:ext cx="4642338" cy="293663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Le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1ED964E4-BDEC-D42D-FC50-4FEF684E62B9}"/>
              </a:ext>
            </a:extLst>
          </p:cNvPr>
          <p:cNvSpPr/>
          <p:nvPr/>
        </p:nvSpPr>
        <p:spPr>
          <a:xfrm rot="14992246">
            <a:off x="6298863" y="-1329399"/>
            <a:ext cx="500372" cy="9032921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Donut 12">
            <a:extLst>
              <a:ext uri="{FF2B5EF4-FFF2-40B4-BE49-F238E27FC236}">
                <a16:creationId xmlns:a16="http://schemas.microsoft.com/office/drawing/2014/main" id="{4EC73AA0-5BFD-DC89-1040-58A7FF8F38D6}"/>
              </a:ext>
            </a:extLst>
          </p:cNvPr>
          <p:cNvSpPr/>
          <p:nvPr/>
        </p:nvSpPr>
        <p:spPr>
          <a:xfrm>
            <a:off x="2222361" y="4491102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0A98A387-E3C0-FA8A-FABF-1AA343E558B7}"/>
              </a:ext>
            </a:extLst>
          </p:cNvPr>
          <p:cNvSpPr/>
          <p:nvPr/>
        </p:nvSpPr>
        <p:spPr>
          <a:xfrm>
            <a:off x="8625122" y="214933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5" name="Donut 14">
            <a:extLst>
              <a:ext uri="{FF2B5EF4-FFF2-40B4-BE49-F238E27FC236}">
                <a16:creationId xmlns:a16="http://schemas.microsoft.com/office/drawing/2014/main" id="{1999E2D3-2504-609D-8397-1A1C58ED5825}"/>
              </a:ext>
            </a:extLst>
          </p:cNvPr>
          <p:cNvSpPr/>
          <p:nvPr/>
        </p:nvSpPr>
        <p:spPr>
          <a:xfrm>
            <a:off x="6549049" y="2902141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Donut 15">
            <a:extLst>
              <a:ext uri="{FF2B5EF4-FFF2-40B4-BE49-F238E27FC236}">
                <a16:creationId xmlns:a16="http://schemas.microsoft.com/office/drawing/2014/main" id="{D17904F4-EE11-0D61-05A8-4D8433DD3DB6}"/>
              </a:ext>
            </a:extLst>
          </p:cNvPr>
          <p:cNvSpPr/>
          <p:nvPr/>
        </p:nvSpPr>
        <p:spPr>
          <a:xfrm>
            <a:off x="4424863" y="3682153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7" name="Donut 16">
            <a:extLst>
              <a:ext uri="{FF2B5EF4-FFF2-40B4-BE49-F238E27FC236}">
                <a16:creationId xmlns:a16="http://schemas.microsoft.com/office/drawing/2014/main" id="{B270902D-BE94-ACF7-D5EA-8E1D9D883F84}"/>
              </a:ext>
            </a:extLst>
          </p:cNvPr>
          <p:cNvSpPr/>
          <p:nvPr/>
        </p:nvSpPr>
        <p:spPr>
          <a:xfrm>
            <a:off x="9973924" y="1654052"/>
            <a:ext cx="392888" cy="427400"/>
          </a:xfrm>
          <a:prstGeom prst="donut">
            <a:avLst/>
          </a:prstGeom>
          <a:solidFill>
            <a:schemeClr val="bg1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40FC0C6F-6D60-9BD0-026E-9CDAD0BA857A}"/>
              </a:ext>
            </a:extLst>
          </p:cNvPr>
          <p:cNvSpPr/>
          <p:nvPr/>
        </p:nvSpPr>
        <p:spPr>
          <a:xfrm>
            <a:off x="3278237" y="4104280"/>
            <a:ext cx="392888" cy="427400"/>
          </a:xfrm>
          <a:prstGeom prst="donut">
            <a:avLst/>
          </a:prstGeom>
          <a:solidFill>
            <a:schemeClr val="tx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B9C05B-4B64-ABCD-5CB0-1DAFD96039DE}"/>
              </a:ext>
            </a:extLst>
          </p:cNvPr>
          <p:cNvSpPr txBox="1"/>
          <p:nvPr/>
        </p:nvSpPr>
        <p:spPr>
          <a:xfrm>
            <a:off x="1635127" y="5229784"/>
            <a:ext cx="15673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Problèmatique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801ECC-6D33-6EF1-79E2-28A6A2A4A5B2}"/>
              </a:ext>
            </a:extLst>
          </p:cNvPr>
          <p:cNvSpPr txBox="1"/>
          <p:nvPr/>
        </p:nvSpPr>
        <p:spPr>
          <a:xfrm>
            <a:off x="2863764" y="4848235"/>
            <a:ext cx="267900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Analyse</a:t>
            </a:r>
            <a:r>
              <a:rPr lang="en-US" sz="1800" dirty="0"/>
              <a:t> des données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C80D3E-1671-DA7E-2E1D-56F496ED8096}"/>
              </a:ext>
            </a:extLst>
          </p:cNvPr>
          <p:cNvSpPr txBox="1"/>
          <p:nvPr/>
        </p:nvSpPr>
        <p:spPr>
          <a:xfrm>
            <a:off x="4150068" y="4478903"/>
            <a:ext cx="1945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sz="1800" dirty="0"/>
              <a:t>ipeline technique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EDD017-E422-7BD5-17D4-C711FA1B0C41}"/>
              </a:ext>
            </a:extLst>
          </p:cNvPr>
          <p:cNvSpPr txBox="1"/>
          <p:nvPr/>
        </p:nvSpPr>
        <p:spPr>
          <a:xfrm>
            <a:off x="6054437" y="3617479"/>
            <a:ext cx="263962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 err="1"/>
              <a:t>Démonstration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direct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1E3DD0-3360-E7C4-C889-22ED5779C83C}"/>
              </a:ext>
            </a:extLst>
          </p:cNvPr>
          <p:cNvSpPr txBox="1"/>
          <p:nvPr/>
        </p:nvSpPr>
        <p:spPr>
          <a:xfrm>
            <a:off x="8363211" y="2972702"/>
            <a:ext cx="1030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Résultats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522DA1-DA3A-EBE9-B1F0-0E6BB7AEFA84}"/>
              </a:ext>
            </a:extLst>
          </p:cNvPr>
          <p:cNvSpPr txBox="1"/>
          <p:nvPr/>
        </p:nvSpPr>
        <p:spPr>
          <a:xfrm>
            <a:off x="9539820" y="2511656"/>
            <a:ext cx="1814861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RSE &amp; conclusion</a:t>
            </a:r>
          </a:p>
        </p:txBody>
      </p:sp>
      <p:sp>
        <p:nvSpPr>
          <p:cNvPr id="33" name="Extract 32">
            <a:extLst>
              <a:ext uri="{FF2B5EF4-FFF2-40B4-BE49-F238E27FC236}">
                <a16:creationId xmlns:a16="http://schemas.microsoft.com/office/drawing/2014/main" id="{C6D72489-9CEB-93E5-7286-4E6EBFFF80DA}"/>
              </a:ext>
            </a:extLst>
          </p:cNvPr>
          <p:cNvSpPr/>
          <p:nvPr/>
        </p:nvSpPr>
        <p:spPr>
          <a:xfrm>
            <a:off x="2310532" y="4976256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xtract 33">
            <a:extLst>
              <a:ext uri="{FF2B5EF4-FFF2-40B4-BE49-F238E27FC236}">
                <a16:creationId xmlns:a16="http://schemas.microsoft.com/office/drawing/2014/main" id="{BA0754CE-630C-E6C5-C60D-81B8F36D6FA1}"/>
              </a:ext>
            </a:extLst>
          </p:cNvPr>
          <p:cNvSpPr/>
          <p:nvPr/>
        </p:nvSpPr>
        <p:spPr>
          <a:xfrm>
            <a:off x="3397371" y="4600863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xtract 34">
            <a:extLst>
              <a:ext uri="{FF2B5EF4-FFF2-40B4-BE49-F238E27FC236}">
                <a16:creationId xmlns:a16="http://schemas.microsoft.com/office/drawing/2014/main" id="{C9F54D13-77F2-95AB-8DD9-7A9463872E33}"/>
              </a:ext>
            </a:extLst>
          </p:cNvPr>
          <p:cNvSpPr/>
          <p:nvPr/>
        </p:nvSpPr>
        <p:spPr>
          <a:xfrm>
            <a:off x="4533730" y="4186152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xtract 35">
            <a:extLst>
              <a:ext uri="{FF2B5EF4-FFF2-40B4-BE49-F238E27FC236}">
                <a16:creationId xmlns:a16="http://schemas.microsoft.com/office/drawing/2014/main" id="{7E922E68-8983-B6AB-850A-138194395280}"/>
              </a:ext>
            </a:extLst>
          </p:cNvPr>
          <p:cNvSpPr/>
          <p:nvPr/>
        </p:nvSpPr>
        <p:spPr>
          <a:xfrm>
            <a:off x="6657916" y="3413238"/>
            <a:ext cx="175153" cy="323795"/>
          </a:xfrm>
          <a:prstGeom prst="flowChartExtra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xtract 36">
            <a:extLst>
              <a:ext uri="{FF2B5EF4-FFF2-40B4-BE49-F238E27FC236}">
                <a16:creationId xmlns:a16="http://schemas.microsoft.com/office/drawing/2014/main" id="{1456D093-6515-E993-C53E-58EB5A4B376A}"/>
              </a:ext>
            </a:extLst>
          </p:cNvPr>
          <p:cNvSpPr/>
          <p:nvPr/>
        </p:nvSpPr>
        <p:spPr>
          <a:xfrm>
            <a:off x="8733989" y="2670544"/>
            <a:ext cx="175153" cy="323795"/>
          </a:xfrm>
          <a:prstGeom prst="flowChartExtra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xtract 37">
            <a:extLst>
              <a:ext uri="{FF2B5EF4-FFF2-40B4-BE49-F238E27FC236}">
                <a16:creationId xmlns:a16="http://schemas.microsoft.com/office/drawing/2014/main" id="{21D80C25-18E9-78EB-3106-DC1C07796C5C}"/>
              </a:ext>
            </a:extLst>
          </p:cNvPr>
          <p:cNvSpPr/>
          <p:nvPr/>
        </p:nvSpPr>
        <p:spPr>
          <a:xfrm>
            <a:off x="10082791" y="2187861"/>
            <a:ext cx="175153" cy="323795"/>
          </a:xfrm>
          <a:prstGeom prst="flowChartExtra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D13BC13B-D0D0-B430-24B5-50ABD7598B27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1B9E3-D142-5CAE-E526-541CE47076CC}"/>
              </a:ext>
            </a:extLst>
          </p:cNvPr>
          <p:cNvSpPr txBox="1"/>
          <p:nvPr/>
        </p:nvSpPr>
        <p:spPr>
          <a:xfrm>
            <a:off x="11581768" y="6286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6" name="Picture 2" descr="🌐">
            <a:extLst>
              <a:ext uri="{FF2B5EF4-FFF2-40B4-BE49-F238E27FC236}">
                <a16:creationId xmlns:a16="http://schemas.microsoft.com/office/drawing/2014/main" id="{278CE8C5-4245-8A41-DE64-699180C53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61C5ED-EF2C-F146-886F-02DE0DE5B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167420-6E12-0C57-27AF-8720E073D803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17240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54CD2-567B-15E1-1B31-6FCA0782F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23499-E55B-546E-3A25-9554D5331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4722" y="743248"/>
            <a:ext cx="9856128" cy="995363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Responsabilité</a:t>
            </a:r>
            <a:r>
              <a:rPr lang="en-US" b="1" dirty="0"/>
              <a:t> Sociale des Entreprises (RSE)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322BD0-0B5A-40F1-16B9-C3BFC50593E8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411842-924D-60B5-98F4-620C10F49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11" y="2013599"/>
            <a:ext cx="5709277" cy="40483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1B7B61-CA33-8CC2-BF15-A69B1EA14B0F}"/>
              </a:ext>
            </a:extLst>
          </p:cNvPr>
          <p:cNvSpPr txBox="1"/>
          <p:nvPr/>
        </p:nvSpPr>
        <p:spPr>
          <a:xfrm>
            <a:off x="7233481" y="2472712"/>
            <a:ext cx="434125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⚡ Faux </a:t>
            </a:r>
            <a:r>
              <a:rPr lang="en-US" sz="2000" dirty="0" err="1"/>
              <a:t>négatif</a:t>
            </a:r>
            <a:r>
              <a:rPr lang="en-US" sz="2000" dirty="0"/>
              <a:t> = agent de </a:t>
            </a:r>
            <a:r>
              <a:rPr lang="en-US" sz="2000" dirty="0" err="1"/>
              <a:t>piste</a:t>
            </a:r>
            <a:r>
              <a:rPr lang="en-US" sz="2000" dirty="0"/>
              <a:t> exposé à la </a:t>
            </a:r>
            <a:r>
              <a:rPr lang="en-US" sz="2000" dirty="0" err="1"/>
              <a:t>foudre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🇺🇸 +50 morts/an par </a:t>
            </a:r>
            <a:r>
              <a:rPr lang="en-US" sz="2000" dirty="0" err="1"/>
              <a:t>foudre</a:t>
            </a:r>
            <a:r>
              <a:rPr lang="en-US" sz="2000" dirty="0"/>
              <a:t> chez les </a:t>
            </a:r>
            <a:r>
              <a:rPr lang="en-US" sz="2000" dirty="0" err="1"/>
              <a:t>travailleurs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extérieur</a:t>
            </a:r>
            <a:r>
              <a:rPr lang="en-US" sz="2000" dirty="0"/>
              <a:t> aux États-Unis (OSHA)</a:t>
            </a:r>
          </a:p>
          <a:p>
            <a:endParaRPr lang="en-US" sz="2000" dirty="0"/>
          </a:p>
          <a:p>
            <a:r>
              <a:rPr lang="en-US" sz="2000" dirty="0"/>
              <a:t>⚠️ 1 </a:t>
            </a:r>
            <a:r>
              <a:rPr lang="en-US" sz="2000" dirty="0" err="1"/>
              <a:t>aéroport</a:t>
            </a:r>
            <a:r>
              <a:rPr lang="en-US" sz="2000" dirty="0"/>
              <a:t> sur 5 sans </a:t>
            </a:r>
            <a:r>
              <a:rPr lang="en-US" sz="2000" dirty="0" err="1"/>
              <a:t>protocole</a:t>
            </a:r>
            <a:r>
              <a:rPr lang="en-US" sz="2000" dirty="0"/>
              <a:t> </a:t>
            </a:r>
            <a:r>
              <a:rPr lang="en-US" sz="2000" dirty="0" err="1"/>
              <a:t>d'arrêt</a:t>
            </a:r>
            <a:r>
              <a:rPr lang="en-US" sz="2000" dirty="0"/>
              <a:t> standard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cas</a:t>
            </a:r>
            <a:r>
              <a:rPr lang="en-US" sz="2000" dirty="0"/>
              <a:t> </a:t>
            </a:r>
            <a:r>
              <a:rPr lang="en-US" sz="2000" dirty="0" err="1"/>
              <a:t>d'orage</a:t>
            </a:r>
            <a:r>
              <a:rPr lang="en-US" sz="2000" dirty="0"/>
              <a:t> (Earth Networks, 2019)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CE8F6972-F6F2-DFD4-A454-0E11A3873058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6D49F-C0F9-5AD6-F76F-C263325E5330}"/>
              </a:ext>
            </a:extLst>
          </p:cNvPr>
          <p:cNvSpPr txBox="1"/>
          <p:nvPr/>
        </p:nvSpPr>
        <p:spPr>
          <a:xfrm>
            <a:off x="11583932" y="6286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65115-7CE4-7393-422A-601578EC4459}"/>
              </a:ext>
            </a:extLst>
          </p:cNvPr>
          <p:cNvSpPr txBox="1"/>
          <p:nvPr/>
        </p:nvSpPr>
        <p:spPr>
          <a:xfrm>
            <a:off x="4181767" y="6261770"/>
            <a:ext cx="610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Source 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OSHA Lightning Safety Standards </a:t>
            </a:r>
            <a:r>
              <a:rPr lang="en-US" dirty="0"/>
              <a:t>—et </a:t>
            </a:r>
            <a:r>
              <a:rPr lang="en-US" dirty="0">
                <a:hlinkClick r:id="rId4"/>
              </a:rPr>
              <a:t>Earth Networks Airport Weather Safety Audit 2019 </a:t>
            </a:r>
            <a:r>
              <a:rPr lang="en-US" dirty="0"/>
              <a:t>— </a:t>
            </a:r>
          </a:p>
        </p:txBody>
      </p:sp>
      <p:pic>
        <p:nvPicPr>
          <p:cNvPr id="16" name="Picture 2" descr="🌐">
            <a:extLst>
              <a:ext uri="{FF2B5EF4-FFF2-40B4-BE49-F238E27FC236}">
                <a16:creationId xmlns:a16="http://schemas.microsoft.com/office/drawing/2014/main" id="{4FEA61D9-77AE-1F06-BB46-BD8BA94A5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9CA63E-CDB9-0DC9-153E-9D31FA262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7257E4D-289E-5197-38FE-FB29C156E9DB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0019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C933-22C0-3485-9D97-93495D9C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AE26BA4-D93E-4214-9301-0349F90B12A8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4DEB589-7CDB-26CE-90E8-A0D85D2DA2FF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3C888A-7CA3-4556-578F-53B83A36526A}"/>
              </a:ext>
            </a:extLst>
          </p:cNvPr>
          <p:cNvSpPr txBox="1"/>
          <p:nvPr/>
        </p:nvSpPr>
        <p:spPr>
          <a:xfrm>
            <a:off x="11583932" y="6286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18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8C8FD0-0B95-4D96-B439-C52948FC5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12" y="1980952"/>
            <a:ext cx="8546376" cy="35946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C4D7BCF3-CE5E-31A7-418F-E500859F7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4722" y="743248"/>
            <a:ext cx="9856128" cy="995363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Responsabilité</a:t>
            </a:r>
            <a:r>
              <a:rPr lang="en-US" b="1" dirty="0"/>
              <a:t> Sociale des Entreprises (RSE)</a:t>
            </a:r>
            <a:endParaRPr lang="en-US" dirty="0"/>
          </a:p>
        </p:txBody>
      </p:sp>
      <p:pic>
        <p:nvPicPr>
          <p:cNvPr id="21" name="Picture 2" descr="🌐">
            <a:extLst>
              <a:ext uri="{FF2B5EF4-FFF2-40B4-BE49-F238E27FC236}">
                <a16:creationId xmlns:a16="http://schemas.microsoft.com/office/drawing/2014/main" id="{54369C0F-F547-3B11-B87D-C443ED30C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B7CADF-99B3-1923-5F7B-5711166E9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CE69C0F-420E-F75B-3015-08E4FAD7F9E2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09410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BCC3-35F1-DD88-76D4-855C8CB1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0BFC9E4-FCAF-9ECF-06B8-D00146D8EE0F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BC4D4AB1-67EC-E28E-813D-7D009684571F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B5E3D8-D6C4-CA02-D8B7-6C18C0E08327}"/>
              </a:ext>
            </a:extLst>
          </p:cNvPr>
          <p:cNvSpPr txBox="1"/>
          <p:nvPr/>
        </p:nvSpPr>
        <p:spPr>
          <a:xfrm>
            <a:off x="11583932" y="6286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646DB9-B024-EF35-EACA-B7D136702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4722" y="743248"/>
            <a:ext cx="9856128" cy="995363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Responsabilité</a:t>
            </a:r>
            <a:r>
              <a:rPr lang="en-US" b="1" dirty="0"/>
              <a:t> Sociale des Entreprises (RSE)</a:t>
            </a:r>
            <a:endParaRPr lang="en-US" dirty="0"/>
          </a:p>
        </p:txBody>
      </p:sp>
      <p:pic>
        <p:nvPicPr>
          <p:cNvPr id="6" name="Picture 2" descr="🌐">
            <a:extLst>
              <a:ext uri="{FF2B5EF4-FFF2-40B4-BE49-F238E27FC236}">
                <a16:creationId xmlns:a16="http://schemas.microsoft.com/office/drawing/2014/main" id="{C600EF14-CBED-0B91-B940-B83FDF89C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B263B5-21B8-1C26-14DD-902026822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955" y="1773086"/>
            <a:ext cx="7301204" cy="45594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9DFB85-58CD-AD29-6CAF-6D742D7F6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8598AF-4FF3-3F9B-D8DC-FA617E9C3D72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7632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EFCC-01FA-BC82-F560-8EBAD9FC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5338A65-2472-EBFC-3159-C8C8162DAEF4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5EE59310-D0F7-44D9-7B6A-9F0DE98BDD67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22F71-FC58-C9FC-3B5D-DF169536B976}"/>
              </a:ext>
            </a:extLst>
          </p:cNvPr>
          <p:cNvSpPr txBox="1"/>
          <p:nvPr/>
        </p:nvSpPr>
        <p:spPr>
          <a:xfrm>
            <a:off x="11583932" y="62871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576CD5-BA8F-03AE-AFD3-CC9D00788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67061"/>
            <a:ext cx="7772400" cy="4619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7D2CB6-51BC-03C1-C520-12FF92D4A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4722" y="743248"/>
            <a:ext cx="9856128" cy="995363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Responsabilité</a:t>
            </a:r>
            <a:r>
              <a:rPr lang="en-US" b="1" dirty="0"/>
              <a:t> Sociale des Entreprises (RSE)</a:t>
            </a:r>
            <a:endParaRPr lang="en-US" dirty="0"/>
          </a:p>
        </p:txBody>
      </p:sp>
      <p:pic>
        <p:nvPicPr>
          <p:cNvPr id="8" name="Picture 2" descr="🌐">
            <a:extLst>
              <a:ext uri="{FF2B5EF4-FFF2-40B4-BE49-F238E27FC236}">
                <a16:creationId xmlns:a16="http://schemas.microsoft.com/office/drawing/2014/main" id="{FA247D1A-D313-79A4-6A3A-018DF94B2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4A0784-D4A3-540E-25BC-EC468322C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B2AA13-54A5-802D-06BD-76C0A532E148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47730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A35B-E740-1038-A753-64CBB203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77CC-34C9-AD50-CF27-52796F821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4786"/>
            <a:ext cx="9144000" cy="995363"/>
          </a:xfrm>
        </p:spPr>
        <p:txBody>
          <a:bodyPr>
            <a:normAutofit/>
          </a:bodyPr>
          <a:lstStyle/>
          <a:p>
            <a:r>
              <a:rPr lang="en-US" b="1" dirty="0"/>
              <a:t>Conclusion &amp; </a:t>
            </a:r>
            <a:r>
              <a:rPr lang="en-US" b="1" dirty="0" err="1"/>
              <a:t>Pérspectives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A5460F-DDC1-B48C-A8AB-D71B447DEB0B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6F8BBAF-BC9E-1A79-2FAB-B62922784971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AA1CB-C481-F686-24C8-E06C15508FC8}"/>
              </a:ext>
            </a:extLst>
          </p:cNvPr>
          <p:cNvSpPr txBox="1"/>
          <p:nvPr/>
        </p:nvSpPr>
        <p:spPr>
          <a:xfrm>
            <a:off x="11583932" y="6286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52640-FD79-2003-D097-0C49F181ABF2}"/>
              </a:ext>
            </a:extLst>
          </p:cNvPr>
          <p:cNvSpPr txBox="1"/>
          <p:nvPr/>
        </p:nvSpPr>
        <p:spPr>
          <a:xfrm>
            <a:off x="1077515" y="1919038"/>
            <a:ext cx="10277166" cy="3280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⚡ </a:t>
            </a:r>
            <a:r>
              <a:rPr lang="en-US" sz="2000" dirty="0" err="1"/>
              <a:t>AllClear</a:t>
            </a:r>
            <a:r>
              <a:rPr lang="en-US" sz="2000" dirty="0"/>
              <a:t> ne </a:t>
            </a:r>
            <a:r>
              <a:rPr lang="en-US" sz="2000" dirty="0" err="1"/>
              <a:t>remplace</a:t>
            </a:r>
            <a:r>
              <a:rPr lang="en-US" sz="2000" dirty="0"/>
              <a:t> pas la </a:t>
            </a:r>
            <a:r>
              <a:rPr lang="en-US" sz="2000" dirty="0" err="1"/>
              <a:t>règle</a:t>
            </a:r>
            <a:r>
              <a:rPr lang="en-US" sz="2000" dirty="0"/>
              <a:t> des 30 minutes — il </a:t>
            </a:r>
            <a:r>
              <a:rPr lang="en-US" sz="2000" dirty="0" err="1"/>
              <a:t>donne</a:t>
            </a:r>
            <a:r>
              <a:rPr lang="en-US" sz="2000" dirty="0"/>
              <a:t> à </a:t>
            </a:r>
            <a:r>
              <a:rPr lang="en-US" sz="2000" dirty="0" err="1"/>
              <a:t>Meteorage</a:t>
            </a:r>
            <a:r>
              <a:rPr lang="en-US" sz="2000" dirty="0"/>
              <a:t> les moyens de </a:t>
            </a:r>
            <a:r>
              <a:rPr lang="en-US" sz="2000" dirty="0" err="1"/>
              <a:t>décider</a:t>
            </a:r>
            <a:r>
              <a:rPr lang="en-US" sz="2000" dirty="0"/>
              <a:t> </a:t>
            </a:r>
            <a:r>
              <a:rPr lang="en-US" sz="2000" dirty="0" err="1"/>
              <a:t>quand</a:t>
            </a:r>
            <a:r>
              <a:rPr lang="en-US" sz="2000" dirty="0"/>
              <a:t> la lever</a:t>
            </a:r>
          </a:p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✅ Sur les données test </a:t>
            </a:r>
            <a:r>
              <a:rPr lang="en-US" sz="2000" dirty="0" err="1"/>
              <a:t>Meteorage</a:t>
            </a:r>
            <a:r>
              <a:rPr lang="en-US" sz="2000" dirty="0"/>
              <a:t> : 150h de gain à </a:t>
            </a:r>
            <a:r>
              <a:rPr lang="el-GR" sz="2000" dirty="0"/>
              <a:t>θ=0.4 · </a:t>
            </a:r>
            <a:r>
              <a:rPr lang="en-US" sz="2000" dirty="0"/>
              <a:t>Risque R = 1.85% &lt; 2%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🎯 Le </a:t>
            </a:r>
            <a:r>
              <a:rPr lang="en-US" sz="2000" dirty="0" err="1"/>
              <a:t>seuil</a:t>
            </a:r>
            <a:r>
              <a:rPr lang="en-US" sz="2000" dirty="0"/>
              <a:t> </a:t>
            </a:r>
            <a:r>
              <a:rPr lang="el-GR" sz="2000" dirty="0"/>
              <a:t>θ </a:t>
            </a:r>
            <a:r>
              <a:rPr lang="en-US" sz="2000" dirty="0"/>
              <a:t>est un </a:t>
            </a:r>
            <a:r>
              <a:rPr lang="en-US" sz="2000" dirty="0" err="1"/>
              <a:t>curseur</a:t>
            </a:r>
            <a:r>
              <a:rPr lang="en-US" sz="2000" dirty="0"/>
              <a:t> de </a:t>
            </a:r>
            <a:r>
              <a:rPr lang="en-US" sz="2000" dirty="0" err="1"/>
              <a:t>responsabilité</a:t>
            </a:r>
            <a:r>
              <a:rPr lang="en-US" sz="2000" dirty="0"/>
              <a:t> — pas un </a:t>
            </a:r>
            <a:r>
              <a:rPr lang="en-US" sz="2000" dirty="0" err="1"/>
              <a:t>hyperparamètre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🔭 Perspectives : </a:t>
            </a:r>
            <a:r>
              <a:rPr lang="en-US" sz="2000" dirty="0" err="1"/>
              <a:t>modèle</a:t>
            </a:r>
            <a:r>
              <a:rPr lang="en-US" sz="2000" dirty="0"/>
              <a:t> de </a:t>
            </a:r>
            <a:r>
              <a:rPr lang="en-US" sz="2000" dirty="0" err="1"/>
              <a:t>survie</a:t>
            </a:r>
            <a:r>
              <a:rPr lang="en-US" sz="2000" dirty="0"/>
              <a:t> (Cox/Weibull) · features par </a:t>
            </a:r>
            <a:r>
              <a:rPr lang="en-US" sz="2000" dirty="0" err="1"/>
              <a:t>aéroport</a:t>
            </a:r>
            <a:r>
              <a:rPr lang="en-US" sz="2000" dirty="0"/>
              <a:t> · </a:t>
            </a:r>
            <a:r>
              <a:rPr lang="en-US" sz="2000" dirty="0" err="1"/>
              <a:t>seuil</a:t>
            </a:r>
            <a:r>
              <a:rPr lang="en-US" sz="2000" dirty="0"/>
              <a:t> </a:t>
            </a:r>
            <a:r>
              <a:rPr lang="en-US" sz="2000" dirty="0" err="1"/>
              <a:t>adaptatif</a:t>
            </a:r>
            <a:endParaRPr lang="en-US" sz="2000" dirty="0"/>
          </a:p>
        </p:txBody>
      </p:sp>
      <p:pic>
        <p:nvPicPr>
          <p:cNvPr id="7" name="Picture 2" descr="🌐">
            <a:extLst>
              <a:ext uri="{FF2B5EF4-FFF2-40B4-BE49-F238E27FC236}">
                <a16:creationId xmlns:a16="http://schemas.microsoft.com/office/drawing/2014/main" id="{CA1D4CC3-3991-F913-4358-648C1CD52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7" y="6313962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FCEC26-0B78-AEA1-1B1A-C14CF0D76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5" y="6315959"/>
            <a:ext cx="1953039" cy="437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601F72-F481-978A-CEFB-CB253579B6F2}"/>
              </a:ext>
            </a:extLst>
          </p:cNvPr>
          <p:cNvSpPr txBox="1"/>
          <p:nvPr/>
        </p:nvSpPr>
        <p:spPr>
          <a:xfrm>
            <a:off x="670105" y="633249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38072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5C0C0-A817-655D-A3B0-A5FA75DD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7130F9E-EC50-F87D-7385-72E0A3891F5C}"/>
              </a:ext>
            </a:extLst>
          </p:cNvPr>
          <p:cNvSpPr txBox="1"/>
          <p:nvPr/>
        </p:nvSpPr>
        <p:spPr>
          <a:xfrm>
            <a:off x="11064535" y="6211669"/>
            <a:ext cx="58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/>
              <a:t>⚡️</a:t>
            </a:r>
            <a:endParaRPr lang="en-US" sz="1800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DAB87D5-59BA-30A7-A9D7-E1059041EB5C}"/>
              </a:ext>
            </a:extLst>
          </p:cNvPr>
          <p:cNvSpPr/>
          <p:nvPr/>
        </p:nvSpPr>
        <p:spPr>
          <a:xfrm>
            <a:off x="11574734" y="6261770"/>
            <a:ext cx="427902" cy="419216"/>
          </a:xfrm>
          <a:prstGeom prst="cloud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C845D-1EE8-2047-EEFF-473579BB4E84}"/>
              </a:ext>
            </a:extLst>
          </p:cNvPr>
          <p:cNvSpPr txBox="1"/>
          <p:nvPr/>
        </p:nvSpPr>
        <p:spPr>
          <a:xfrm>
            <a:off x="11583932" y="6286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0F4C2A-CABA-D2AE-8B4B-CCB1957CD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331" y="2186608"/>
            <a:ext cx="3322983" cy="33229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CA10C9-DFE8-322B-406C-5747E400E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686" y="2186608"/>
            <a:ext cx="3322983" cy="33271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42C6AA-8884-AED4-6385-25CD29B2165A}"/>
              </a:ext>
            </a:extLst>
          </p:cNvPr>
          <p:cNvSpPr txBox="1"/>
          <p:nvPr/>
        </p:nvSpPr>
        <p:spPr>
          <a:xfrm>
            <a:off x="2021877" y="1663388"/>
            <a:ext cx="2545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Code sur </a:t>
            </a:r>
            <a:r>
              <a:rPr lang="en-US" sz="2800" dirty="0" err="1"/>
              <a:t>Github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587FF-BAD7-9CCE-883F-4C7A9C6D600D}"/>
              </a:ext>
            </a:extLst>
          </p:cNvPr>
          <p:cNvSpPr txBox="1"/>
          <p:nvPr/>
        </p:nvSpPr>
        <p:spPr>
          <a:xfrm>
            <a:off x="7675914" y="1663388"/>
            <a:ext cx="2672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Site web All clear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726004-BB6F-9712-C0DA-8F8CF1BAA0A9}"/>
              </a:ext>
            </a:extLst>
          </p:cNvPr>
          <p:cNvSpPr txBox="1"/>
          <p:nvPr/>
        </p:nvSpPr>
        <p:spPr>
          <a:xfrm>
            <a:off x="7505995" y="5797653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allclear.mehdi.website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473168-634E-64F1-F216-08166658F2DD}"/>
              </a:ext>
            </a:extLst>
          </p:cNvPr>
          <p:cNvSpPr txBox="1"/>
          <p:nvPr/>
        </p:nvSpPr>
        <p:spPr>
          <a:xfrm>
            <a:off x="1371058" y="5801254"/>
            <a:ext cx="3847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/Mehdi-</a:t>
            </a:r>
            <a:r>
              <a:rPr lang="en-US" dirty="0" err="1"/>
              <a:t>kbz</a:t>
            </a:r>
            <a:r>
              <a:rPr lang="en-US" dirty="0"/>
              <a:t>/</a:t>
            </a:r>
            <a:r>
              <a:rPr lang="en-US" dirty="0" err="1"/>
              <a:t>AllClear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2E2E4E-24E3-BAF8-29FC-AFEC21FCA8FD}"/>
              </a:ext>
            </a:extLst>
          </p:cNvPr>
          <p:cNvSpPr txBox="1"/>
          <p:nvPr/>
        </p:nvSpPr>
        <p:spPr>
          <a:xfrm>
            <a:off x="5403887" y="556866"/>
            <a:ext cx="16231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33921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771</TotalTime>
  <Words>646</Words>
  <Application>Microsoft Macintosh PowerPoint</Application>
  <PresentationFormat>Widescreen</PresentationFormat>
  <Paragraphs>207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Helvetica Neue</vt:lpstr>
      <vt:lpstr>Office 2013 - 2022 Theme</vt:lpstr>
      <vt:lpstr>AllClear   Présentation – Databattle 2026</vt:lpstr>
      <vt:lpstr>Problèmatique</vt:lpstr>
      <vt:lpstr>Plan de la présentation</vt:lpstr>
      <vt:lpstr>Plan de la présentation</vt:lpstr>
      <vt:lpstr>Analyse des données</vt:lpstr>
      <vt:lpstr>Plan de la présentation</vt:lpstr>
      <vt:lpstr>Pipeline technique</vt:lpstr>
      <vt:lpstr>Pipeline technique - Ingénierie des données</vt:lpstr>
      <vt:lpstr>Pipeline technique - Entraînement</vt:lpstr>
      <vt:lpstr>Pipeline technique - Évaluation</vt:lpstr>
      <vt:lpstr>Plan de la présentation</vt:lpstr>
      <vt:lpstr>Démonstration en direct</vt:lpstr>
      <vt:lpstr>Plan de la présentation</vt:lpstr>
      <vt:lpstr>Résultats</vt:lpstr>
      <vt:lpstr>Résultats</vt:lpstr>
      <vt:lpstr>Résultats</vt:lpstr>
      <vt:lpstr>Plan de la présentation</vt:lpstr>
      <vt:lpstr>Responsabilité Sociale des Entreprises (RSE)</vt:lpstr>
      <vt:lpstr>Responsabilité Sociale des Entreprises (RSE)</vt:lpstr>
      <vt:lpstr>Responsabilité Sociale des Entreprises (RSE)</vt:lpstr>
      <vt:lpstr>Responsabilité Sociale des Entreprises (RSE)</vt:lpstr>
      <vt:lpstr>Conclusion &amp; Pérspectives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Mehdi Khabouze</dc:creator>
  <cp:lastModifiedBy>Mehdi Khabouze</cp:lastModifiedBy>
  <cp:revision>16</cp:revision>
  <cp:lastPrinted>2026-03-27T09:26:12Z</cp:lastPrinted>
  <dcterms:created xsi:type="dcterms:W3CDTF">2026-03-25T11:38:13Z</dcterms:created>
  <dcterms:modified xsi:type="dcterms:W3CDTF">2026-03-27T09:45:39Z</dcterms:modified>
</cp:coreProperties>
</file>